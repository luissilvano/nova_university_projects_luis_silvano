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bookmarkIdSeed="4">
  <p:sldMasterIdLst>
    <p:sldMasterId id="2147483648" r:id="rId4"/>
  </p:sldMasterIdLst>
  <p:notesMasterIdLst>
    <p:notesMasterId r:id="rId25"/>
  </p:notesMasterIdLst>
  <p:sldIdLst>
    <p:sldId id="259" r:id="rId5"/>
    <p:sldId id="323" r:id="rId6"/>
    <p:sldId id="334" r:id="rId7"/>
    <p:sldId id="335" r:id="rId8"/>
    <p:sldId id="336" r:id="rId9"/>
    <p:sldId id="337" r:id="rId10"/>
    <p:sldId id="338" r:id="rId11"/>
    <p:sldId id="356" r:id="rId12"/>
    <p:sldId id="357" r:id="rId13"/>
    <p:sldId id="341" r:id="rId14"/>
    <p:sldId id="344" r:id="rId15"/>
    <p:sldId id="346" r:id="rId16"/>
    <p:sldId id="348" r:id="rId17"/>
    <p:sldId id="349" r:id="rId18"/>
    <p:sldId id="303" r:id="rId19"/>
    <p:sldId id="345" r:id="rId20"/>
    <p:sldId id="347" r:id="rId21"/>
    <p:sldId id="352" r:id="rId22"/>
    <p:sldId id="350" r:id="rId23"/>
    <p:sldId id="351" r:id="rId24"/>
  </p:sldIdLst>
  <p:sldSz cx="12192000" cy="6858000"/>
  <p:notesSz cx="6858000" cy="9144000"/>
  <p:embeddedFontLst>
    <p:embeddedFont>
      <p:font typeface="Borna" pitchFamily="50" charset="0"/>
      <p:regular r:id="rId26"/>
      <p:bold r:id="rId27"/>
      <p:italic r:id="rId28"/>
      <p:boldItalic r:id="rId29"/>
    </p:embeddedFont>
    <p:embeddedFont>
      <p:font typeface="Circular Std Book" panose="020B0604020101020102" pitchFamily="34" charset="0"/>
      <p:regular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2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orient="horz" pos="3768" userDrawn="1">
          <p15:clr>
            <a:srgbClr val="A4A3A4"/>
          </p15:clr>
        </p15:guide>
        <p15:guide id="6" orient="horz" pos="288" userDrawn="1">
          <p15:clr>
            <a:srgbClr val="A4A3A4"/>
          </p15:clr>
        </p15:guide>
        <p15:guide id="7" orient="horz" pos="2376" userDrawn="1">
          <p15:clr>
            <a:srgbClr val="A4A3A4"/>
          </p15:clr>
        </p15:guide>
        <p15:guide id="8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EB4748-CCAE-6626-6C4A-560A0220F286}" name="Luis Francisco Matias Silvano" initials="LS" userId="S::r20201479@novaims.unl.pt::c39bbe9c-daf0-44f7-adad-df286a987550" providerId="AD"/>
  <p188:author id="{ED420E84-6950-B71C-A4EC-107E46476C59}" name="Inês Pais" initials="IP" userId="S::apais@novaims.unl.pt::b8b3dd50-c0c5-4386-beed-fc3feeb647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666C"/>
    <a:srgbClr val="FFFFFF"/>
    <a:srgbClr val="3777FF"/>
    <a:srgbClr val="0EE071"/>
    <a:srgbClr val="007CD0"/>
    <a:srgbClr val="FF4011"/>
    <a:srgbClr val="F6DA00"/>
    <a:srgbClr val="FF0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832"/>
        <p:guide pos="384"/>
        <p:guide pos="240"/>
        <p:guide orient="horz" pos="3768"/>
        <p:guide orient="horz" pos="288"/>
        <p:guide orient="horz" pos="2376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A36B7-C534-4C80-9258-C1AC80FFB3BE}" type="datetimeFigureOut">
              <a:rPr lang="pt-PT" smtClean="0"/>
              <a:t>23/10/2025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DD0EC-5F40-40A1-AA92-7DCEF98767A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5528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DD0EC-5F40-40A1-AA92-7DCEF98767A7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028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undo br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EC4DD-F715-1310-48DA-201B9B22EA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11BEB-6D9E-9B35-A3DA-6BB46E3F0A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4994375-F36C-BB2C-E18E-9C4A9AE01A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919B289-2908-4CF4-BEF5-B9384F4DAD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972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undo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25EE26B-E162-B259-E608-298C69C4BD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3D86F7E-6156-6F6A-7771-FB154260E1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E647BEE-376A-02D9-0AE4-B85A313CDC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1D1EE-98FF-B14A-62CF-FC32BA5F2C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2742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undo 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CA71B4B-0B2C-AF9E-0C23-5C51EA6F0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8DE5D86-F41D-9672-5B74-F25492B08C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441E593-622D-F9D0-E916-C3A6E287A9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B7916-F2FB-9CB8-B1E7-F7E05CC609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8184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borbole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34036F-4BB5-6F53-373A-503B8F002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B69EFD0-402E-71F6-0651-E3D4138B13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400BB54-0C2F-39D9-2F57-53FED229F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9F596-9FC0-F0C8-640E-AE4A5D64A0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495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olh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07EEB8C-FB9E-EBB9-DBA8-1CB92FE4A3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984" y="5445820"/>
            <a:ext cx="10919997" cy="75109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 err="1"/>
              <a:t>Adicionar</a:t>
            </a:r>
            <a:r>
              <a:rPr lang="en-US" spc="-150"/>
              <a:t> título da </a:t>
            </a:r>
            <a:r>
              <a:rPr lang="en-US" spc="-150" err="1"/>
              <a:t>apresentação</a:t>
            </a:r>
            <a:endParaRPr lang="pt-PT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3BD712-6482-76A5-2340-1CD88C746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291" y="6283686"/>
            <a:ext cx="4830763" cy="33069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9DE9747-1A60-A845-8B10-1AA207DDDC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8218" y="6283685"/>
            <a:ext cx="4830763" cy="33069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Nome do professor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8660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49B38238-62AD-C906-A1E2-9E60F3383B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47714" y="1674741"/>
            <a:ext cx="3895427" cy="3895427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ACD9443-195B-9BF1-97E8-13F6F0CB1E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947714" y="1674740"/>
            <a:ext cx="3895427" cy="3895427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ACCB1B7F-9E84-6AA8-E1D3-7347233EA5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22FF8A-ED6E-A6EE-AA23-ACD012F90AC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36A41E2-13D6-31E6-1D06-A263F619D8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520571"/>
            <a:ext cx="9529119" cy="8445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6000" b="1" spc="-150">
                <a:solidFill>
                  <a:schemeClr val="tx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Index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EB8F577E-2625-E1A5-E59F-38889FB22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1032" y="212237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02. TÍTULO DO SEPARADOR</a:t>
            </a:r>
            <a:endParaRPr lang="en-PT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6A983C2-5AD6-A1E2-1504-3B626BC7B2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1032" y="2802695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03. TÍTULO DO SEPARADOR</a:t>
            </a:r>
            <a:endParaRPr lang="en-PT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6D88CAF6-44E8-B1DA-B0CD-6B82347141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1032" y="3460614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04. TÍTULO DO SEPARADOR</a:t>
            </a:r>
            <a:endParaRPr lang="en-PT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488BC43-D40F-7BA0-C338-FD036507AE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1032" y="414648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05. TÍTULO DO SEPARADOR</a:t>
            </a:r>
            <a:endParaRPr lang="en-PT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3C77C89-9C30-0320-93C2-15E982A1FA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36316" y="4817431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06. TÍTULO DO SEPARADOR</a:t>
            </a:r>
            <a:endParaRPr lang="en-PT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350F38C6-9AEA-8ED7-16BB-F8A2B0B34A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0672" y="1500021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01</a:t>
            </a:r>
            <a:endParaRPr lang="en-PT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1D95FEB6-E07F-822C-4DF3-5A73A9478A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760672" y="2184525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04</a:t>
            </a:r>
            <a:endParaRPr lang="en-PT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4098C21F-844E-CF45-C259-46773F69AD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60672" y="2861742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05</a:t>
            </a:r>
            <a:endParaRPr lang="en-PT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F5798BB-E27B-03BF-A30A-3A28AAFF44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60672" y="3516638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07</a:t>
            </a:r>
            <a:endParaRPr lang="en-PT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AA4DE611-71E4-CF7C-BFD5-E8757E3078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60672" y="4202600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09</a:t>
            </a:r>
            <a:endParaRPr lang="en-PT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87513597-7288-4860-C038-56F1666DE0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60672" y="4871919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11</a:t>
            </a:r>
            <a:endParaRPr lang="en-PT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15BDD15-5A32-063E-3761-46A1BA060E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4133" y="1454839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01. TÍTULO DO SEPARADOR</a:t>
            </a:r>
            <a:endParaRPr lang="en-PT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12FBBD-D809-F278-D0D4-55EEDC86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41735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39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_2">
    <p:bg>
      <p:bgPr>
        <a:solidFill>
          <a:srgbClr val="1D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49B38238-62AD-C906-A1E2-9E60F3383B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47714" y="1674741"/>
            <a:ext cx="3895427" cy="3895427"/>
          </a:xfrm>
          <a:prstGeom prst="rect">
            <a:avLst/>
          </a:prstGeom>
        </p:spPr>
      </p:pic>
      <p:pic>
        <p:nvPicPr>
          <p:cNvPr id="38" name="Picture 37" descr="A black and white logo&#10;&#10;AI-generated content may be incorrect.">
            <a:extLst>
              <a:ext uri="{FF2B5EF4-FFF2-40B4-BE49-F238E27FC236}">
                <a16:creationId xmlns:a16="http://schemas.microsoft.com/office/drawing/2014/main" id="{3DA46916-2526-2DEF-91C5-D59CCCE70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7" y="6179480"/>
            <a:ext cx="2165880" cy="582381"/>
          </a:xfrm>
          <a:prstGeom prst="rect">
            <a:avLst/>
          </a:prstGeom>
        </p:spPr>
      </p:pic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94B30DA3-6A3A-CAB8-D04D-3BC3DB4023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A2478C8-AF5F-9DFE-2A3A-323AEAB345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520571"/>
            <a:ext cx="9529119" cy="8445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60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Index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ED471CD6-CAD2-FBD4-9E41-41AB97890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1032" y="212237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02. TÍTULO DO SEPARADOR</a:t>
            </a:r>
            <a:endParaRPr lang="en-PT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9B42DB6A-19A4-0A65-440B-C79A650221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1032" y="2802695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03. TÍTULO DO SEPARADOR</a:t>
            </a:r>
            <a:endParaRPr lang="en-PT"/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916CE2DE-F952-5B73-8203-0EB7D5DED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1032" y="3460614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04. TÍTULO DO SEPARADOR</a:t>
            </a:r>
            <a:endParaRPr lang="en-PT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DCFF0187-A081-ED68-BCEA-ECC0874E14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1032" y="414648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05. TÍTULO DO SEPARADOR</a:t>
            </a:r>
            <a:endParaRPr lang="en-PT"/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41BAF85A-CEE1-562E-DCAB-F44C80CC1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36316" y="4817431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06. TÍTULO DO SEPARADOR</a:t>
            </a:r>
            <a:endParaRPr lang="en-PT"/>
          </a:p>
        </p:txBody>
      </p: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A610D56E-7CF0-8512-5E31-18D20D04676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0672" y="1500021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01</a:t>
            </a:r>
            <a:endParaRPr lang="en-PT"/>
          </a:p>
        </p:txBody>
      </p:sp>
      <p:sp>
        <p:nvSpPr>
          <p:cNvPr id="52" name="Text Placeholder 23">
            <a:extLst>
              <a:ext uri="{FF2B5EF4-FFF2-40B4-BE49-F238E27FC236}">
                <a16:creationId xmlns:a16="http://schemas.microsoft.com/office/drawing/2014/main" id="{CE5636E1-E12A-6650-6B8F-5F713E584B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760672" y="2184525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04</a:t>
            </a:r>
            <a:endParaRPr lang="en-PT"/>
          </a:p>
        </p:txBody>
      </p:sp>
      <p:sp>
        <p:nvSpPr>
          <p:cNvPr id="53" name="Text Placeholder 23">
            <a:extLst>
              <a:ext uri="{FF2B5EF4-FFF2-40B4-BE49-F238E27FC236}">
                <a16:creationId xmlns:a16="http://schemas.microsoft.com/office/drawing/2014/main" id="{C214C0E0-F780-1FDD-93E0-1D89733767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60672" y="2861742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05</a:t>
            </a:r>
            <a:endParaRPr lang="en-PT"/>
          </a:p>
        </p:txBody>
      </p:sp>
      <p:sp>
        <p:nvSpPr>
          <p:cNvPr id="54" name="Text Placeholder 23">
            <a:extLst>
              <a:ext uri="{FF2B5EF4-FFF2-40B4-BE49-F238E27FC236}">
                <a16:creationId xmlns:a16="http://schemas.microsoft.com/office/drawing/2014/main" id="{E9F62395-F44F-F3E0-951B-25B8CA6F9C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60672" y="3516638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07</a:t>
            </a:r>
            <a:endParaRPr lang="en-PT"/>
          </a:p>
        </p:txBody>
      </p:sp>
      <p:sp>
        <p:nvSpPr>
          <p:cNvPr id="55" name="Text Placeholder 23">
            <a:extLst>
              <a:ext uri="{FF2B5EF4-FFF2-40B4-BE49-F238E27FC236}">
                <a16:creationId xmlns:a16="http://schemas.microsoft.com/office/drawing/2014/main" id="{1983C30A-75E7-27DE-594A-CCBB4C1FF6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60672" y="4202600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09</a:t>
            </a:r>
            <a:endParaRPr lang="en-PT"/>
          </a:p>
        </p:txBody>
      </p:sp>
      <p:sp>
        <p:nvSpPr>
          <p:cNvPr id="56" name="Text Placeholder 23">
            <a:extLst>
              <a:ext uri="{FF2B5EF4-FFF2-40B4-BE49-F238E27FC236}">
                <a16:creationId xmlns:a16="http://schemas.microsoft.com/office/drawing/2014/main" id="{86AA14F4-8E67-E570-FA15-D902F1E28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60672" y="4871919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11</a:t>
            </a:r>
            <a:endParaRPr lang="en-PT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FD795E4C-62CE-C28B-8281-E93091160A3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4133" y="1454839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01. TÍTULO DO SEPARADOR</a:t>
            </a:r>
            <a:endParaRPr lang="en-PT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7F1D1A0-23A6-C1B0-E709-43D737EC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2868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39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+ subtitulo +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691970"/>
            <a:ext cx="11385549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1172982"/>
            <a:ext cx="1138554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7E9CF41-451B-3631-C12B-6079CAF97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895835"/>
            <a:ext cx="11385549" cy="39731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</a:t>
            </a:r>
          </a:p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8A1D3B-36D6-8DC5-E949-742A8F14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38F081F-3A6E-0F12-770D-D2294D49B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4CD1F2-FAB8-F4DF-E3AB-AC8C27E2F6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6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+ sub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691970"/>
            <a:ext cx="11385549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1172982"/>
            <a:ext cx="1138554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8A1D3B-36D6-8DC5-E949-742A8F14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38F081F-3A6E-0F12-770D-D2294D49B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4CD1F2-FAB8-F4DF-E3AB-AC8C27E2F6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82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+ subtitulo + texto (bullets fora da mestra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691970"/>
            <a:ext cx="11385549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1172982"/>
            <a:ext cx="1138554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7E9CF41-451B-3631-C12B-6079CAF97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895835"/>
            <a:ext cx="11385549" cy="11326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8A1D3B-36D6-8DC5-E949-742A8F14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38F081F-3A6E-0F12-770D-D2294D49B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NOVA IMS | </a:t>
            </a:r>
            <a:r>
              <a:rPr lang="en-GB" dirty="0" err="1"/>
              <a:t>Título</a:t>
            </a:r>
            <a:r>
              <a:rPr lang="en-GB" dirty="0"/>
              <a:t> da </a:t>
            </a:r>
            <a:r>
              <a:rPr lang="en-GB" dirty="0" err="1"/>
              <a:t>apresentaçãçl,çl,ço</a:t>
            </a:r>
            <a:endParaRPr lang="en-PT" dirty="0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4CD1F2-FAB8-F4DF-E3AB-AC8C27E2F6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31A2A3-B147-0186-DEE9-95B95B316E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7596" y="3040961"/>
            <a:ext cx="11385549" cy="55855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Lorem ipsum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dolor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amet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consectetur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adipiscing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elita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sed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do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eiusmod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tempor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incididunt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ut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labore et dolore magna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aliqua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Elementum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sagittis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vitae.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64AB0D-0AC5-FB67-B681-3016C5E1E7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596" y="3758965"/>
            <a:ext cx="11385549" cy="55855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Lorem ipsum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dolor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amet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consectetur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adipiscing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elita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sed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do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eiusmod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tempor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incididunt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ut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labore et dolore magna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aliqua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Elementum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sagittis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vitae.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FF9E7F4-A80D-8696-52B9-1DBB3FC9E9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7596" y="4490936"/>
            <a:ext cx="11385549" cy="55855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Lorem ipsum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dolor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amet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consectetur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adipiscing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elita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sed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do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eiusmod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tempor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incididunt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ut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labore et dolore magna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aliqua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Elementum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sagittis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vitae.</a:t>
            </a:r>
          </a:p>
        </p:txBody>
      </p:sp>
    </p:spTree>
    <p:extLst>
      <p:ext uri="{BB962C8B-B14F-4D97-AF65-F5344CB8AC3E}">
        <p14:creationId xmlns:p14="http://schemas.microsoft.com/office/powerpoint/2010/main" val="237855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subtitulo pequeno +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04355" y="31799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5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4353" y="67261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7E9CF41-451B-3631-C12B-6079CAF97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404135"/>
            <a:ext cx="11385549" cy="42142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</a:t>
            </a:r>
          </a:p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277A62-8B07-2B54-18C7-AF4099BC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9763ACE3-82B5-B275-B4A2-BB23FCCEE9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F3C0345-46E1-6FFB-0401-7510343757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  <p15:guide id="3" orient="horz" pos="216" userDrawn="1">
          <p15:clr>
            <a:srgbClr val="FBAE40"/>
          </p15:clr>
        </p15:guide>
        <p15:guide id="4" orient="horz" pos="3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subtitulo peque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04355" y="31799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5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4353" y="67261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277A62-8B07-2B54-18C7-AF4099BC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9763ACE3-82B5-B275-B4A2-BB23FCCEE9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F3C0345-46E1-6FFB-0401-7510343757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06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  <p15:guide id="3" orient="horz" pos="216" userDrawn="1">
          <p15:clr>
            <a:srgbClr val="FBAE40"/>
          </p15:clr>
        </p15:guide>
        <p15:guide id="4" orient="horz" pos="3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baix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C533DB-69D2-C53D-F404-18D3A6349416}"/>
              </a:ext>
            </a:extLst>
          </p:cNvPr>
          <p:cNvSpPr/>
          <p:nvPr userDrawn="1"/>
        </p:nvSpPr>
        <p:spPr>
          <a:xfrm>
            <a:off x="5892798" y="0"/>
            <a:ext cx="2651128" cy="26511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736B3A-4275-0F6B-D169-A4A494475B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0999" y="2649306"/>
            <a:ext cx="551179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DF130B-9F1C-2739-6FE0-5DC582122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3440281"/>
            <a:ext cx="11385549" cy="2739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en-US"/>
          </a:p>
          <a:p>
            <a:pPr lvl="0"/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en-US"/>
          </a:p>
          <a:p>
            <a:pPr lvl="0"/>
            <a:endParaRPr lang="pt-PT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ACA81A4C-4089-9E5D-FCDC-48FED9DB4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4750" y="1"/>
            <a:ext cx="5511799" cy="3130317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AA96F-8693-A57D-3689-B89582502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68294"/>
            <a:ext cx="5511800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800"/>
              </a:lnSpc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 dirty="0"/>
              <a:t>Título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EA83674-8F4B-2A12-2153-3D87C76D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D5833D5-D816-AD8F-408B-F7C0D584A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DFA6C19-2656-6D13-B2FD-E49612BF8F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47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al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DE394B-E86E-4B77-A19A-BB7613715A56}"/>
              </a:ext>
            </a:extLst>
          </p:cNvPr>
          <p:cNvSpPr/>
          <p:nvPr userDrawn="1"/>
        </p:nvSpPr>
        <p:spPr>
          <a:xfrm>
            <a:off x="7444378" y="3221001"/>
            <a:ext cx="2651128" cy="26511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35F092-221B-7CFE-B026-D1CF71E9B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82528" y="-104775"/>
            <a:ext cx="3884021" cy="5576854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736B3A-4275-0F6B-D169-A4A494475B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0999" y="2021595"/>
            <a:ext cx="682740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DF130B-9F1C-2739-6FE0-5DC582122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810009"/>
            <a:ext cx="6827409" cy="20263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4F36CC3-E48F-B86D-9789-C8258DDF9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1540583"/>
            <a:ext cx="6827408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800"/>
              </a:lnSpc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589FBF-1FA3-DF0A-337D-20AD6882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A4C8BB8-C13A-99D5-9BD0-553FD9B081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6CE3E6-BBEE-1A43-F5A6-D970C8E45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20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baixo gra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35F092-221B-7CFE-B026-D1CF71E9B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1000" y="1041215"/>
            <a:ext cx="7841926" cy="4965791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4FC8A84-F6F1-25E1-AF1B-8FEA8BFABC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43855" y="1791423"/>
            <a:ext cx="3222694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736B3A-4275-0F6B-D169-A4A494475B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3854" y="2564895"/>
            <a:ext cx="3222694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DF130B-9F1C-2739-6FE0-5DC582122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43854" y="3203737"/>
            <a:ext cx="3222694" cy="28032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FontTx/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54B14D1-C75F-C203-B37B-3C202525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0A2E962F-4D90-6747-BD1F-25D5C6D00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C297D4-CFA3-7C5C-2329-2658BA2B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6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baixo grande (fundo azu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6A7DD3-DA1F-4148-B3D5-FEF865917006}"/>
              </a:ext>
            </a:extLst>
          </p:cNvPr>
          <p:cNvSpPr/>
          <p:nvPr userDrawn="1"/>
        </p:nvSpPr>
        <p:spPr>
          <a:xfrm>
            <a:off x="7726363" y="1711327"/>
            <a:ext cx="4465637" cy="4261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87CDEF-7DAE-FCF3-C36D-C37441D809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0" y="1711327"/>
            <a:ext cx="7726363" cy="4261732"/>
          </a:xfrm>
          <a:custGeom>
            <a:avLst/>
            <a:gdLst>
              <a:gd name="T0" fmla="*/ 0 w 7726273"/>
              <a:gd name="T1" fmla="*/ 0 h 4503410"/>
              <a:gd name="T2" fmla="*/ 7726363 w 7726273"/>
              <a:gd name="T3" fmla="*/ 0 h 4503410"/>
              <a:gd name="T4" fmla="*/ 7726363 w 7726273"/>
              <a:gd name="T5" fmla="*/ 4503737 h 4503410"/>
              <a:gd name="T6" fmla="*/ 0 w 7726273"/>
              <a:gd name="T7" fmla="*/ 4503737 h 45034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726273" h="4503410">
                <a:moveTo>
                  <a:pt x="0" y="0"/>
                </a:moveTo>
                <a:lnTo>
                  <a:pt x="7726273" y="0"/>
                </a:lnTo>
                <a:lnTo>
                  <a:pt x="7726273" y="4503410"/>
                </a:lnTo>
                <a:lnTo>
                  <a:pt x="0" y="450341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66DED96-CD09-0F5F-F073-0FAA186A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A807D998-2D2B-13AE-FE8D-CA7BDD367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07826A3-F7AC-9AD9-3C03-44279A9A21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32D719E-4E77-D957-08A8-863CBF38C9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4145" y="1711327"/>
            <a:ext cx="3707953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FEC19A2-E250-7461-B986-D7FCA52A42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4144" y="2484799"/>
            <a:ext cx="3707953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494A848-127F-4C23-4BBA-8949170421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144" y="3091437"/>
            <a:ext cx="3707953" cy="2530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buFontTx/>
              <a:buNone/>
              <a:defRPr sz="13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817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alto grande (fundo verd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C188841-2150-3160-1F2F-45A409A85DA8}"/>
              </a:ext>
            </a:extLst>
          </p:cNvPr>
          <p:cNvSpPr>
            <a:spLocks noGrp="1" noChangeArrowheads="1"/>
          </p:cNvSpPr>
          <p:nvPr>
            <p:ph type="pic" sz="quarter" idx="19"/>
          </p:nvPr>
        </p:nvSpPr>
        <p:spPr bwMode="auto">
          <a:xfrm>
            <a:off x="6311900" y="-100117"/>
            <a:ext cx="5880100" cy="6073176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EE8D4C-CF56-AC75-8077-5B4FFFAACDF9}"/>
              </a:ext>
            </a:extLst>
          </p:cNvPr>
          <p:cNvSpPr/>
          <p:nvPr userDrawn="1"/>
        </p:nvSpPr>
        <p:spPr>
          <a:xfrm>
            <a:off x="381000" y="2223454"/>
            <a:ext cx="5930900" cy="37496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>
              <a:latin typeface="+mj-lt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61F2FD-F82A-7C51-1997-AE548F95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A6380327-4E1E-4371-5A90-E2C040EB9A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3D38035-78EF-3342-C0E7-433FF93DAD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D1DEB0C-0DB9-D719-301B-34B9231AEA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427972"/>
            <a:ext cx="5486400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800"/>
              </a:lnSpc>
              <a:spcBef>
                <a:spcPts val="0"/>
              </a:spcBef>
              <a:buFontTx/>
              <a:buNone/>
              <a:defRPr sz="3200" b="1" spc="-15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The problem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A23BC58F-94F4-677E-66E0-5E5D4FE29E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7775" y="2640360"/>
            <a:ext cx="4632326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421F0199-C923-3573-257F-AEAA34251D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7775" y="3624610"/>
            <a:ext cx="4632326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921A7BBA-EDC3-BF53-D4F3-76F1C25B3F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7775" y="4618385"/>
            <a:ext cx="4632326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</p:spTree>
    <p:extLst>
      <p:ext uri="{BB962C8B-B14F-4D97-AF65-F5344CB8AC3E}">
        <p14:creationId xmlns:p14="http://schemas.microsoft.com/office/powerpoint/2010/main" val="1473658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P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A0DD47-98E5-D5A5-7398-779EF80D7401}"/>
              </a:ext>
            </a:extLst>
          </p:cNvPr>
          <p:cNvSpPr/>
          <p:nvPr userDrawn="1"/>
        </p:nvSpPr>
        <p:spPr>
          <a:xfrm>
            <a:off x="2724150" y="1834619"/>
            <a:ext cx="9467850" cy="3734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B5FEE-5E08-77BD-11A0-96E26D720D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5926" y="1562100"/>
            <a:ext cx="78300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5D18663-4190-3F5A-B4A8-E7D50E61D5B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3400" y="1834619"/>
            <a:ext cx="5926097" cy="3734331"/>
          </a:xfrm>
          <a:custGeom>
            <a:avLst/>
            <a:gdLst>
              <a:gd name="connsiteX0" fmla="*/ 0 w 5113868"/>
              <a:gd name="connsiteY0" fmla="*/ 0 h 4182533"/>
              <a:gd name="connsiteX1" fmla="*/ 5113868 w 5113868"/>
              <a:gd name="connsiteY1" fmla="*/ 0 h 4182533"/>
              <a:gd name="connsiteX2" fmla="*/ 5113868 w 5113868"/>
              <a:gd name="connsiteY2" fmla="*/ 4182533 h 4182533"/>
              <a:gd name="connsiteX3" fmla="*/ 0 w 5113868"/>
              <a:gd name="connsiteY3" fmla="*/ 4182533 h 4182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3868" h="4182533">
                <a:moveTo>
                  <a:pt x="0" y="0"/>
                </a:moveTo>
                <a:lnTo>
                  <a:pt x="5113868" y="0"/>
                </a:lnTo>
                <a:lnTo>
                  <a:pt x="5113868" y="4182533"/>
                </a:lnTo>
                <a:lnTo>
                  <a:pt x="0" y="4182533"/>
                </a:ln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D5333-A1E4-3612-3CAA-F4F21D16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4C03950-0DC4-AEA5-92FE-90FB9C2B8A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6326B82-A81B-8F7D-DCB1-22E1AB0D91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5735076-66D0-D401-8BDA-77626707F8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4969" y="2124654"/>
            <a:ext cx="4523632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E54921-A302-FBCE-3233-105EF931DD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4968" y="2898126"/>
            <a:ext cx="4523632" cy="3435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B71839-2C5C-3901-5D8A-52034EAC61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34968" y="3377396"/>
            <a:ext cx="4523632" cy="18347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buFontTx/>
              <a:buNone/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55593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smartph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A0DD47-98E5-D5A5-7398-779EF80D7401}"/>
              </a:ext>
            </a:extLst>
          </p:cNvPr>
          <p:cNvSpPr/>
          <p:nvPr userDrawn="1"/>
        </p:nvSpPr>
        <p:spPr>
          <a:xfrm>
            <a:off x="-126815" y="1561834"/>
            <a:ext cx="10051725" cy="3734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EE8ABF-1A99-86E5-0A5B-3F5E05700A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8" t="21150" r="38898" b="21150"/>
          <a:stretch>
            <a:fillRect/>
          </a:stretch>
        </p:blipFill>
        <p:spPr bwMode="auto">
          <a:xfrm>
            <a:off x="9016999" y="431800"/>
            <a:ext cx="2749550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A223617-5EC8-06A7-13AF-633EDC3EFE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8213" y="619062"/>
            <a:ext cx="2397261" cy="5081151"/>
          </a:xfrm>
          <a:custGeom>
            <a:avLst/>
            <a:gdLst>
              <a:gd name="connsiteX0" fmla="*/ 425502 w 3595892"/>
              <a:gd name="connsiteY0" fmla="*/ 0 h 7791098"/>
              <a:gd name="connsiteX1" fmla="*/ 612185 w 3595892"/>
              <a:gd name="connsiteY1" fmla="*/ 0 h 7791098"/>
              <a:gd name="connsiteX2" fmla="*/ 776499 w 3595892"/>
              <a:gd name="connsiteY2" fmla="*/ 0 h 7791098"/>
              <a:gd name="connsiteX3" fmla="*/ 814413 w 3595892"/>
              <a:gd name="connsiteY3" fmla="*/ 15705 h 7791098"/>
              <a:gd name="connsiteX4" fmla="*/ 823302 w 3595892"/>
              <a:gd name="connsiteY4" fmla="*/ 28888 h 7791098"/>
              <a:gd name="connsiteX5" fmla="*/ 823302 w 3595892"/>
              <a:gd name="connsiteY5" fmla="*/ 85038 h 7791098"/>
              <a:gd name="connsiteX6" fmla="*/ 1029708 w 3595892"/>
              <a:gd name="connsiteY6" fmla="*/ 291443 h 7791098"/>
              <a:gd name="connsiteX7" fmla="*/ 2567915 w 3595892"/>
              <a:gd name="connsiteY7" fmla="*/ 291443 h 7791098"/>
              <a:gd name="connsiteX8" fmla="*/ 2774322 w 3595892"/>
              <a:gd name="connsiteY8" fmla="*/ 85038 h 7791098"/>
              <a:gd name="connsiteX9" fmla="*/ 2774320 w 3595892"/>
              <a:gd name="connsiteY9" fmla="*/ 40248 h 7791098"/>
              <a:gd name="connsiteX10" fmla="*/ 2775835 w 3595892"/>
              <a:gd name="connsiteY10" fmla="*/ 32748 h 7791098"/>
              <a:gd name="connsiteX11" fmla="*/ 2787325 w 3595892"/>
              <a:gd name="connsiteY11" fmla="*/ 15705 h 7791098"/>
              <a:gd name="connsiteX12" fmla="*/ 2825240 w 3595892"/>
              <a:gd name="connsiteY12" fmla="*/ 0 h 7791098"/>
              <a:gd name="connsiteX13" fmla="*/ 3170390 w 3595892"/>
              <a:gd name="connsiteY13" fmla="*/ 0 h 7791098"/>
              <a:gd name="connsiteX14" fmla="*/ 3256144 w 3595892"/>
              <a:gd name="connsiteY14" fmla="*/ 8644 h 7791098"/>
              <a:gd name="connsiteX15" fmla="*/ 3595892 w 3595892"/>
              <a:gd name="connsiteY15" fmla="*/ 425504 h 7791098"/>
              <a:gd name="connsiteX16" fmla="*/ 3595892 w 3595892"/>
              <a:gd name="connsiteY16" fmla="*/ 7365596 h 7791098"/>
              <a:gd name="connsiteX17" fmla="*/ 3170390 w 3595892"/>
              <a:gd name="connsiteY17" fmla="*/ 7791098 h 7791098"/>
              <a:gd name="connsiteX18" fmla="*/ 425502 w 3595892"/>
              <a:gd name="connsiteY18" fmla="*/ 7791098 h 7791098"/>
              <a:gd name="connsiteX19" fmla="*/ 0 w 3595892"/>
              <a:gd name="connsiteY19" fmla="*/ 7365596 h 7791098"/>
              <a:gd name="connsiteX20" fmla="*/ 0 w 3595892"/>
              <a:gd name="connsiteY20" fmla="*/ 425504 h 7791098"/>
              <a:gd name="connsiteX21" fmla="*/ 425502 w 3595892"/>
              <a:gd name="connsiteY21" fmla="*/ 0 h 779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95892" h="7791098">
                <a:moveTo>
                  <a:pt x="425502" y="0"/>
                </a:moveTo>
                <a:lnTo>
                  <a:pt x="612185" y="0"/>
                </a:lnTo>
                <a:lnTo>
                  <a:pt x="776499" y="0"/>
                </a:lnTo>
                <a:cubicBezTo>
                  <a:pt x="791306" y="0"/>
                  <a:pt x="804711" y="6003"/>
                  <a:pt x="814413" y="15705"/>
                </a:cubicBezTo>
                <a:lnTo>
                  <a:pt x="823302" y="28888"/>
                </a:lnTo>
                <a:lnTo>
                  <a:pt x="823302" y="85038"/>
                </a:lnTo>
                <a:cubicBezTo>
                  <a:pt x="823302" y="199032"/>
                  <a:pt x="915712" y="291443"/>
                  <a:pt x="1029708" y="291443"/>
                </a:cubicBezTo>
                <a:lnTo>
                  <a:pt x="2567915" y="291443"/>
                </a:lnTo>
                <a:cubicBezTo>
                  <a:pt x="2681911" y="291443"/>
                  <a:pt x="2774322" y="199032"/>
                  <a:pt x="2774322" y="85038"/>
                </a:cubicBezTo>
                <a:lnTo>
                  <a:pt x="2774320" y="40248"/>
                </a:lnTo>
                <a:lnTo>
                  <a:pt x="2775835" y="32748"/>
                </a:lnTo>
                <a:cubicBezTo>
                  <a:pt x="2778548" y="26334"/>
                  <a:pt x="2782473" y="20558"/>
                  <a:pt x="2787325" y="15705"/>
                </a:cubicBezTo>
                <a:lnTo>
                  <a:pt x="2825240" y="0"/>
                </a:lnTo>
                <a:lnTo>
                  <a:pt x="3170390" y="0"/>
                </a:lnTo>
                <a:cubicBezTo>
                  <a:pt x="3199765" y="0"/>
                  <a:pt x="3228444" y="2977"/>
                  <a:pt x="3256144" y="8644"/>
                </a:cubicBezTo>
                <a:cubicBezTo>
                  <a:pt x="3450038" y="48324"/>
                  <a:pt x="3595892" y="219880"/>
                  <a:pt x="3595892" y="425504"/>
                </a:cubicBezTo>
                <a:lnTo>
                  <a:pt x="3595892" y="7365596"/>
                </a:lnTo>
                <a:cubicBezTo>
                  <a:pt x="3595892" y="7600593"/>
                  <a:pt x="3405388" y="7791098"/>
                  <a:pt x="3170390" y="7791098"/>
                </a:cubicBezTo>
                <a:lnTo>
                  <a:pt x="425502" y="7791098"/>
                </a:lnTo>
                <a:cubicBezTo>
                  <a:pt x="190505" y="7791098"/>
                  <a:pt x="0" y="7600593"/>
                  <a:pt x="0" y="7365596"/>
                </a:cubicBezTo>
                <a:lnTo>
                  <a:pt x="0" y="425504"/>
                </a:lnTo>
                <a:cubicBezTo>
                  <a:pt x="0" y="190505"/>
                  <a:pt x="190505" y="0"/>
                  <a:pt x="42550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74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EE1B5D6-E3B4-1C7F-53EF-343B78BE4E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0999" y="1834619"/>
            <a:ext cx="7983774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04D38BC-575C-624A-4513-AE8A984D17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998" y="2608091"/>
            <a:ext cx="7983774" cy="3435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297DBD-2C23-F4A7-712A-A941042C58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998" y="2991948"/>
            <a:ext cx="7983774" cy="18347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buFontTx/>
              <a:buNone/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3061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400CD4-C021-E2A0-E9D1-691BC99EC7D3}"/>
              </a:ext>
            </a:extLst>
          </p:cNvPr>
          <p:cNvSpPr/>
          <p:nvPr userDrawn="1"/>
        </p:nvSpPr>
        <p:spPr>
          <a:xfrm>
            <a:off x="0" y="0"/>
            <a:ext cx="3517900" cy="3241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73460-C102-BF8E-9937-714584E0B420}"/>
              </a:ext>
            </a:extLst>
          </p:cNvPr>
          <p:cNvSpPr/>
          <p:nvPr userDrawn="1"/>
        </p:nvSpPr>
        <p:spPr>
          <a:xfrm>
            <a:off x="4140257" y="3104833"/>
            <a:ext cx="3910013" cy="2884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49FA445-8C95-25AB-ED0B-D0D29FC63C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028700"/>
            <a:ext cx="3741738" cy="4953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12BC7E-FCF4-13E9-54FD-4AD1A416E2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7354" y="1024168"/>
            <a:ext cx="5867400" cy="13620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eaLnBrk="1" hangingPunct="1">
              <a:lnSpc>
                <a:spcPts val="3800"/>
              </a:lnSpc>
              <a:buFontTx/>
              <a:buNone/>
              <a:defRPr sz="3200" b="1" spc="-150">
                <a:solidFill>
                  <a:srgbClr val="0EE071"/>
                </a:solidFill>
                <a:latin typeface="+mj-lt"/>
              </a:defRPr>
            </a:lvl1pPr>
            <a:lvl2pPr marL="457200" indent="0">
              <a:buFontTx/>
              <a:buNone/>
              <a:defRPr sz="3200">
                <a:latin typeface="+mj-lt"/>
              </a:defRPr>
            </a:lvl2pPr>
            <a:lvl3pPr marL="914400" indent="0">
              <a:buFontTx/>
              <a:buNone/>
              <a:defRPr sz="3200">
                <a:latin typeface="+mj-lt"/>
              </a:defRPr>
            </a:lvl3pPr>
            <a:lvl4pPr marL="1371600" indent="0">
              <a:buFontTx/>
              <a:buNone/>
              <a:defRPr sz="3200">
                <a:latin typeface="+mj-lt"/>
              </a:defRPr>
            </a:lvl4pPr>
            <a:lvl5pPr marL="1828800" indent="0">
              <a:buFontTx/>
              <a:buNone/>
              <a:defRPr sz="3200">
                <a:latin typeface="+mj-lt"/>
              </a:defRPr>
            </a:lvl5pPr>
          </a:lstStyle>
          <a:p>
            <a:pPr eaLnBrk="1" hangingPunct="1">
              <a:lnSpc>
                <a:spcPts val="3800"/>
              </a:lnSpc>
            </a:pPr>
            <a:r>
              <a:rPr lang="en-US"/>
              <a:t>How We </a:t>
            </a:r>
            <a:r>
              <a:rPr lang="en-US" altLang="pt-PT" sz="3200" b="1" spc="-150">
                <a:solidFill>
                  <a:schemeClr val="accent1"/>
                </a:solidFill>
                <a:latin typeface="+mj-lt"/>
                <a:ea typeface="Noto Serif" panose="02020600060500020200" pitchFamily="18" charset="0"/>
                <a:cs typeface="Poppins" panose="00000500000000000000" pitchFamily="2" charset="0"/>
              </a:rPr>
              <a:t>Work Become Successfully Being a Business Planning Manage</a:t>
            </a:r>
            <a:endParaRPr lang="pt-PT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0EB3941-D4DC-DB22-F677-EF1FB46B13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7354" y="3429000"/>
            <a:ext cx="3328337" cy="4794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57CD39-EA42-CA89-EEFB-AAC3782E0D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7354" y="4010025"/>
            <a:ext cx="3328337" cy="1182457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eaLnBrk="1" hangingPunct="1">
              <a:lnSpc>
                <a:spcPts val="1800"/>
              </a:lnSpc>
            </a:pP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C9E1D40A-3C2A-E8EB-A079-0E7F236372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99040" y="3236213"/>
            <a:ext cx="2952955" cy="292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Description Text One</a:t>
            </a:r>
            <a:endParaRPr lang="pt-PT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8AF35F8-331A-E41C-FEFE-013E4D4B33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8276" y="3528847"/>
            <a:ext cx="2952955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DEDC7D07-3764-0128-A909-5675DCB69C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9040" y="4766556"/>
            <a:ext cx="2952955" cy="292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Description Text One</a:t>
            </a:r>
            <a:endParaRPr lang="pt-PT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34441374-D344-3C03-4E88-E0A289B4BF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98276" y="5059190"/>
            <a:ext cx="2952955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</p:spTree>
    <p:extLst>
      <p:ext uri="{BB962C8B-B14F-4D97-AF65-F5344CB8AC3E}">
        <p14:creationId xmlns:p14="http://schemas.microsoft.com/office/powerpoint/2010/main" val="2328939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7341E4-0292-769B-DAE3-50270998E150}"/>
              </a:ext>
            </a:extLst>
          </p:cNvPr>
          <p:cNvSpPr/>
          <p:nvPr userDrawn="1"/>
        </p:nvSpPr>
        <p:spPr>
          <a:xfrm>
            <a:off x="0" y="2142500"/>
            <a:ext cx="10245285" cy="38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349FA445-8C95-25AB-ED0B-D0D29FC63C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9844" y="640080"/>
            <a:ext cx="4787096" cy="480447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9929F3-45BC-2691-52DC-B034FE7F4AE0}"/>
              </a:ext>
            </a:extLst>
          </p:cNvPr>
          <p:cNvSpPr/>
          <p:nvPr userDrawn="1"/>
        </p:nvSpPr>
        <p:spPr>
          <a:xfrm>
            <a:off x="8439150" y="4980539"/>
            <a:ext cx="3752850" cy="10011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C07A01B-5D2D-E848-9B1B-4E128C190732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80999" y="2785993"/>
            <a:ext cx="6071419" cy="4794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7ED8B1-D383-7B15-4DEC-BFC42403FA74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81000" y="3355975"/>
            <a:ext cx="6071418" cy="130810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23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ts val="2300"/>
              </a:lnSpc>
              <a:buFontTx/>
              <a:buNone/>
              <a:defRPr sz="1800"/>
            </a:lvl2pPr>
            <a:lvl3pPr marL="914400" indent="0">
              <a:lnSpc>
                <a:spcPts val="2300"/>
              </a:lnSpc>
              <a:buFontTx/>
              <a:buNone/>
              <a:defRPr sz="1800"/>
            </a:lvl3pPr>
            <a:lvl4pPr marL="1371600" indent="0">
              <a:lnSpc>
                <a:spcPts val="2300"/>
              </a:lnSpc>
              <a:buFontTx/>
              <a:buNone/>
              <a:defRPr sz="1800"/>
            </a:lvl4pPr>
            <a:lvl5pPr marL="1828800" indent="0">
              <a:lnSpc>
                <a:spcPts val="2300"/>
              </a:lnSpc>
              <a:buFontTx/>
              <a:buNone/>
              <a:defRPr sz="1800"/>
            </a:lvl5pPr>
          </a:lstStyle>
          <a:p>
            <a:pPr eaLnBrk="1" hangingPunct="1">
              <a:lnSpc>
                <a:spcPts val="2300"/>
              </a:lnSpc>
            </a:pP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6F0F80A-3B10-949A-F9C7-7D2F519811C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81000" y="4752975"/>
            <a:ext cx="6072188" cy="58102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2000">
                <a:latin typeface="+mj-lt"/>
              </a:defRPr>
            </a:lvl2pPr>
            <a:lvl3pPr marL="914400" indent="0">
              <a:buFontTx/>
              <a:buNone/>
              <a:defRPr sz="2000">
                <a:latin typeface="+mj-lt"/>
              </a:defRPr>
            </a:lvl3pPr>
            <a:lvl4pPr marL="1371600" indent="0">
              <a:buFontTx/>
              <a:buNone/>
              <a:defRPr sz="2000">
                <a:latin typeface="+mj-lt"/>
              </a:defRPr>
            </a:lvl4pPr>
            <a:lvl5pPr marL="1828800" indent="0">
              <a:buFontTx/>
              <a:buNone/>
              <a:defRPr sz="2000">
                <a:latin typeface="+mj-lt"/>
              </a:defRPr>
            </a:lvl5pPr>
          </a:lstStyle>
          <a:p>
            <a:pPr eaLnBrk="1" hangingPunct="1"/>
            <a:r>
              <a:rPr lang="en-US" altLang="pt-PT" sz="2000" b="1" i="1">
                <a:solidFill>
                  <a:schemeClr val="bg2"/>
                </a:solidFill>
                <a:latin typeface="+mj-lt"/>
                <a:cs typeface="Poppins" panose="00000500000000000000" pitchFamily="2" charset="0"/>
              </a:rPr>
              <a:t>If Everyone Is Moving Forward Together, Then Success Takes Care Of Itself.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93C2EC5A-0FBF-39A0-50BB-A736F2D1CA9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80999" y="5414403"/>
            <a:ext cx="4830763" cy="3111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4F5F916-1982-3365-61EB-AB7DBD0280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82665" y="5169970"/>
            <a:ext cx="2974275" cy="3111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Legenda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6725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725A9F-C029-9506-49BE-4EAE5EEA5B9F}"/>
              </a:ext>
            </a:extLst>
          </p:cNvPr>
          <p:cNvSpPr/>
          <p:nvPr userDrawn="1"/>
        </p:nvSpPr>
        <p:spPr>
          <a:xfrm>
            <a:off x="2692400" y="1030287"/>
            <a:ext cx="9121775" cy="1944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err="1">
              <a:solidFill>
                <a:schemeClr val="bg2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49FA445-8C95-25AB-ED0B-D0D29FC63C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566863"/>
            <a:ext cx="5689600" cy="28527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16B3D03-2AB8-86CF-7CED-11A6C2483E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7838" y="1812897"/>
            <a:ext cx="4723606" cy="103393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eaLnBrk="1" fontAlgn="auto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eaLnBrk="1" fontAlgn="auto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-150">
                <a:solidFill>
                  <a:schemeClr val="bg2"/>
                </a:solidFill>
                <a:latin typeface="+mj-lt"/>
                <a:cs typeface="Archivo Medium" pitchFamily="2" charset="0"/>
              </a:rPr>
              <a:t>The Problem</a:t>
            </a:r>
            <a:endParaRPr lang="id-ID" sz="3200" b="1" spc="-150">
              <a:solidFill>
                <a:schemeClr val="bg2"/>
              </a:solidFill>
              <a:latin typeface="+mj-lt"/>
              <a:cs typeface="Archivo Medium" pitchFamily="2" charset="0"/>
            </a:endParaRP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EA07BFCA-2328-AB4B-B9E1-B00D2537F6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07275" y="3302444"/>
            <a:ext cx="4144169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16ED0FBE-E01D-DF9D-4897-28B9F88D81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07275" y="4286250"/>
            <a:ext cx="4144169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1" name="Text Placeholder 32">
            <a:extLst>
              <a:ext uri="{FF2B5EF4-FFF2-40B4-BE49-F238E27FC236}">
                <a16:creationId xmlns:a16="http://schemas.microsoft.com/office/drawing/2014/main" id="{415A7E8A-414E-EC91-A6A6-AE89114A6F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7275" y="5270056"/>
            <a:ext cx="4144169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FE9DB1C6-F557-BDCF-71D1-C49709BD3D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5407596"/>
            <a:ext cx="5308600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96D7A3A6-DA57-01BA-07C8-FA74EB6F7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679902"/>
            <a:ext cx="2878137" cy="6905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/>
              <a:t>+89</a:t>
            </a:r>
          </a:p>
        </p:txBody>
      </p:sp>
    </p:spTree>
    <p:extLst>
      <p:ext uri="{BB962C8B-B14F-4D97-AF65-F5344CB8AC3E}">
        <p14:creationId xmlns:p14="http://schemas.microsoft.com/office/powerpoint/2010/main" val="20129167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B9995A-6021-4B13-7CDF-A94326FE4BD8}"/>
              </a:ext>
            </a:extLst>
          </p:cNvPr>
          <p:cNvSpPr/>
          <p:nvPr userDrawn="1"/>
        </p:nvSpPr>
        <p:spPr>
          <a:xfrm>
            <a:off x="0" y="1041214"/>
            <a:ext cx="7721600" cy="49318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FFAE1FA1-9102-6916-CD62-B7568CD8576B}"/>
              </a:ext>
            </a:extLst>
          </p:cNvPr>
          <p:cNvSpPr/>
          <p:nvPr userDrawn="1"/>
        </p:nvSpPr>
        <p:spPr>
          <a:xfrm>
            <a:off x="4641761" y="2209800"/>
            <a:ext cx="4137660" cy="38038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89A0704-5DAD-D3BF-1460-80B4897596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22719" y="3570510"/>
            <a:ext cx="2256703" cy="2154555"/>
          </a:xfrm>
          <a:prstGeom prst="rect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53046E7-E66C-90C0-A244-F82B2C13D0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22718" y="1268343"/>
            <a:ext cx="2256703" cy="2154555"/>
          </a:xfrm>
          <a:prstGeom prst="rect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9546DAD-1430-D188-D0CA-E16BC9E0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C89F8EF-6C59-751A-39DE-190474244B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7EF177-36D1-FD97-760C-0697586AA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D354A305-39F8-F43A-046D-37621607AA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28972" y="1452363"/>
            <a:ext cx="2733127" cy="29263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 b="1">
                <a:latin typeface="+mj-lt"/>
              </a:defRPr>
            </a:lvl1pPr>
          </a:lstStyle>
          <a:p>
            <a:pPr eaLnBrk="1" hangingPunct="1">
              <a:lnSpc>
                <a:spcPts val="1800"/>
              </a:lnSpc>
            </a:pPr>
            <a:r>
              <a:rPr lang="en-US" altLang="pt-PT" sz="1600" b="1">
                <a:solidFill>
                  <a:schemeClr val="accent6"/>
                </a:solidFill>
                <a:latin typeface="+mj-lt"/>
                <a:ea typeface="Open Sans" panose="020B0606030504020204" pitchFamily="34" charset="0"/>
                <a:cs typeface="Poppins Medium" panose="00000600000000000000" pitchFamily="50" charset="0"/>
              </a:rPr>
              <a:t>Your Text Here</a:t>
            </a:r>
          </a:p>
        </p:txBody>
      </p: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7E5B9F6F-54B7-3137-2DE1-D8509935C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8972" y="1799418"/>
            <a:ext cx="2733127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F59034CB-16A3-9F1E-9A4F-80690040D5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28972" y="3785675"/>
            <a:ext cx="2733127" cy="29263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 b="1">
                <a:latin typeface="+mj-lt"/>
              </a:defRPr>
            </a:lvl1pPr>
          </a:lstStyle>
          <a:p>
            <a:pPr eaLnBrk="1" hangingPunct="1">
              <a:lnSpc>
                <a:spcPts val="1800"/>
              </a:lnSpc>
            </a:pPr>
            <a:r>
              <a:rPr lang="en-US" altLang="pt-PT" sz="1600" b="1">
                <a:solidFill>
                  <a:schemeClr val="accent6"/>
                </a:solidFill>
                <a:latin typeface="+mj-lt"/>
                <a:ea typeface="Open Sans" panose="020B0606030504020204" pitchFamily="34" charset="0"/>
                <a:cs typeface="Poppins Medium" panose="00000600000000000000" pitchFamily="50" charset="0"/>
              </a:rPr>
              <a:t>Your Text Here</a:t>
            </a:r>
          </a:p>
        </p:txBody>
      </p:sp>
      <p:sp>
        <p:nvSpPr>
          <p:cNvPr id="20" name="Text Placeholder 32">
            <a:extLst>
              <a:ext uri="{FF2B5EF4-FFF2-40B4-BE49-F238E27FC236}">
                <a16:creationId xmlns:a16="http://schemas.microsoft.com/office/drawing/2014/main" id="{258BC6DE-CBE9-4D58-3BBB-B5353FD429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8972" y="4132730"/>
            <a:ext cx="2733127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4617D135-4BCC-4D47-F572-AB1763AB59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22543" y="2451745"/>
            <a:ext cx="1470590" cy="690563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buFontTx/>
              <a:buNone/>
              <a:defRPr sz="6000" b="1">
                <a:latin typeface="+mj-lt"/>
              </a:defRPr>
            </a:lvl1pPr>
          </a:lstStyle>
          <a:p>
            <a:pPr eaLnBrk="1" hangingPunct="1"/>
            <a:r>
              <a:rPr lang="en-US" altLang="pt-PT" sz="6000" b="1" spc="-150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40</a:t>
            </a:r>
            <a:r>
              <a:rPr lang="en-US" altLang="pt-PT" sz="6000" b="1" spc="-150" baseline="30000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+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D56E6F0C-C4EA-68D7-D801-036ADA8837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22543" y="3227619"/>
            <a:ext cx="1465635" cy="507833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 b="1">
                <a:latin typeface="+mj-lt"/>
              </a:defRPr>
            </a:lvl1pPr>
          </a:lstStyle>
          <a:p>
            <a:pPr eaLnBrk="1" hangingPunct="1">
              <a:lnSpc>
                <a:spcPts val="1800"/>
              </a:lnSpc>
            </a:pPr>
            <a:r>
              <a:rPr lang="en-US" altLang="pt-PT" sz="1600" b="1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Best </a:t>
            </a:r>
            <a:r>
              <a:rPr lang="en-US" altLang="pt-PT" sz="1600" b="1" err="1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Analystics</a:t>
            </a:r>
            <a:endParaRPr lang="en-US" altLang="pt-PT" sz="1600" b="1">
              <a:solidFill>
                <a:schemeClr val="accent6"/>
              </a:solidFill>
              <a:latin typeface="+mj-lt"/>
              <a:cs typeface="Poppins Medium" panose="00000600000000000000" pitchFamily="50" charset="0"/>
            </a:endParaRP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60E10ED8-1807-34B3-3732-D1AE0F4D6C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22543" y="3881673"/>
            <a:ext cx="1465635" cy="1843392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 err="1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consectetur</a:t>
            </a: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 adipiscing elit, sed do eiusmod tempor incididunt ut labore et dolore magna aliqua. Nullam ac tortor vitae purus 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B7DC2C49-753F-BA6D-601D-62C1CADE46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394" y="1100698"/>
            <a:ext cx="5739606" cy="96040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eaLnBrk="1" fontAlgn="auto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>
              <a:lnSpc>
                <a:spcPts val="3800"/>
              </a:lnSpc>
              <a:defRPr/>
            </a:pPr>
            <a:r>
              <a:rPr lang="en-US" sz="3200" spc="-150">
                <a:solidFill>
                  <a:schemeClr val="bg2"/>
                </a:solidFill>
              </a:rPr>
              <a:t>Our Business Objectivities</a:t>
            </a:r>
            <a:endParaRPr lang="en-ID" sz="3200" spc="-150">
              <a:solidFill>
                <a:schemeClr val="bg2"/>
              </a:solidFill>
            </a:endParaRP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1897EBE2-5AB5-90EF-4DA4-76DCA70A2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792" y="2380364"/>
            <a:ext cx="1108539" cy="3438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1170+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76268597-3B16-3E78-884E-AAE97FEE9F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8792" y="2753580"/>
            <a:ext cx="1108539" cy="2555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customer</a:t>
            </a:r>
          </a:p>
        </p:txBody>
      </p:sp>
      <p:sp>
        <p:nvSpPr>
          <p:cNvPr id="55" name="Text Placeholder 47">
            <a:extLst>
              <a:ext uri="{FF2B5EF4-FFF2-40B4-BE49-F238E27FC236}">
                <a16:creationId xmlns:a16="http://schemas.microsoft.com/office/drawing/2014/main" id="{B83893D7-B4F2-CEE9-049B-90E10BA8C2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73700" y="2388501"/>
            <a:ext cx="1256176" cy="3438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12K</a:t>
            </a:r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D4A04EFD-FE99-E533-C695-76729D18437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5908" y="2761717"/>
            <a:ext cx="1273968" cy="2555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customer</a:t>
            </a:r>
          </a:p>
        </p:txBody>
      </p:sp>
      <p:sp>
        <p:nvSpPr>
          <p:cNvPr id="60" name="Text Placeholder 15">
            <a:extLst>
              <a:ext uri="{FF2B5EF4-FFF2-40B4-BE49-F238E27FC236}">
                <a16:creationId xmlns:a16="http://schemas.microsoft.com/office/drawing/2014/main" id="{55C53B8D-4066-C994-3938-020A2420C1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3190885"/>
            <a:ext cx="3950957" cy="235117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23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ts val="2300"/>
              </a:lnSpc>
              <a:buFontTx/>
              <a:buNone/>
              <a:defRPr sz="1800"/>
            </a:lvl2pPr>
            <a:lvl3pPr marL="914400" indent="0">
              <a:lnSpc>
                <a:spcPts val="2300"/>
              </a:lnSpc>
              <a:buFontTx/>
              <a:buNone/>
              <a:defRPr sz="1800"/>
            </a:lvl3pPr>
            <a:lvl4pPr marL="1371600" indent="0">
              <a:lnSpc>
                <a:spcPts val="2300"/>
              </a:lnSpc>
              <a:buFontTx/>
              <a:buNone/>
              <a:defRPr sz="1800"/>
            </a:lvl4pPr>
            <a:lvl5pPr marL="1828800" indent="0">
              <a:lnSpc>
                <a:spcPts val="2300"/>
              </a:lnSpc>
              <a:buFontTx/>
              <a:buNone/>
              <a:defRPr sz="1800"/>
            </a:lvl5pPr>
          </a:lstStyle>
          <a:p>
            <a:pPr eaLnBrk="1" hangingPunct="1">
              <a:lnSpc>
                <a:spcPts val="2300"/>
              </a:lnSpc>
            </a:pP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9673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_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049BC-B225-D2A4-2415-2DE586CA61E3}"/>
              </a:ext>
            </a:extLst>
          </p:cNvPr>
          <p:cNvSpPr/>
          <p:nvPr userDrawn="1"/>
        </p:nvSpPr>
        <p:spPr>
          <a:xfrm rot="5400000">
            <a:off x="1081086" y="3365500"/>
            <a:ext cx="1905000" cy="330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5DC60-6AEF-D56A-B5CD-9D9E78360D58}"/>
              </a:ext>
            </a:extLst>
          </p:cNvPr>
          <p:cNvSpPr/>
          <p:nvPr userDrawn="1"/>
        </p:nvSpPr>
        <p:spPr>
          <a:xfrm>
            <a:off x="3686175" y="4065588"/>
            <a:ext cx="8505826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B150AA61-AB2D-C13D-00C6-FD223CA9EF6E}"/>
              </a:ext>
            </a:extLst>
          </p:cNvPr>
          <p:cNvSpPr>
            <a:spLocks noGrp="1" noChangeArrowheads="1"/>
          </p:cNvSpPr>
          <p:nvPr>
            <p:ph type="pic" sz="quarter" idx="10"/>
          </p:nvPr>
        </p:nvSpPr>
        <p:spPr bwMode="auto">
          <a:xfrm>
            <a:off x="381000" y="1041214"/>
            <a:ext cx="11810999" cy="3024374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BA04F3D-8A23-C603-38AE-AF51E602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F10761E-6832-D234-1FBA-D34597F3CE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9FE44EF-DE3E-3AB7-3174-55CD676C5E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651CD98C-CC61-5446-1A5E-A6F80F5940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4350952"/>
            <a:ext cx="2744787" cy="133482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eaLnBrk="1" hangingPunct="1">
              <a:lnSpc>
                <a:spcPts val="1800"/>
              </a:lnSpc>
            </a:pP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44A1D7F3-972F-CEAA-74E1-5CE7C59537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10242" y="4355096"/>
            <a:ext cx="5824866" cy="4794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Título </a:t>
            </a:r>
            <a:r>
              <a:rPr lang="en-US" err="1"/>
              <a:t>separador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32701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_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C0511B-EC14-EFB7-9658-107FBEF5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E9F227B-15D9-37FD-7F78-4FDC302636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4945E3-FFEE-6F77-03D7-C9F7F7827D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D1BB0B5-B9A6-80DC-7DAD-D6CD1B46D893}"/>
              </a:ext>
            </a:extLst>
          </p:cNvPr>
          <p:cNvSpPr/>
          <p:nvPr userDrawn="1"/>
        </p:nvSpPr>
        <p:spPr>
          <a:xfrm>
            <a:off x="8203776" y="3208020"/>
            <a:ext cx="3251045" cy="2773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887EAC-AF68-C157-87B8-18559E670DD5}"/>
              </a:ext>
            </a:extLst>
          </p:cNvPr>
          <p:cNvSpPr/>
          <p:nvPr userDrawn="1"/>
        </p:nvSpPr>
        <p:spPr>
          <a:xfrm>
            <a:off x="4668632" y="3208020"/>
            <a:ext cx="3251045" cy="2773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4CBC8B-320D-182D-B1DD-DA6A2E4DE52B}"/>
              </a:ext>
            </a:extLst>
          </p:cNvPr>
          <p:cNvSpPr/>
          <p:nvPr userDrawn="1"/>
        </p:nvSpPr>
        <p:spPr>
          <a:xfrm>
            <a:off x="1133489" y="3208020"/>
            <a:ext cx="3251045" cy="2773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03E125-A4C7-CF18-86DB-646B29545B08}"/>
              </a:ext>
            </a:extLst>
          </p:cNvPr>
          <p:cNvSpPr>
            <a:spLocks noGrp="1" noChangeArrowheads="1"/>
          </p:cNvSpPr>
          <p:nvPr>
            <p:ph type="pic" sz="quarter" idx="10"/>
          </p:nvPr>
        </p:nvSpPr>
        <p:spPr bwMode="auto">
          <a:xfrm>
            <a:off x="0" y="1041214"/>
            <a:ext cx="12191999" cy="3024374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E55C7F7-F7CE-3CCE-29A6-C73367CAFE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6086" y="4792799"/>
            <a:ext cx="3235804" cy="1318441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500" spc="-150">
                <a:ln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pt-PT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EADFDCD-1BED-4B05-84FE-D0FE5E07D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8683" y="4792799"/>
            <a:ext cx="3238350" cy="1318441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500" spc="-150">
                <a:ln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pt-PT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9C694EF-3329-4669-13ED-CB6F5CCA17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3490" y="4792799"/>
            <a:ext cx="3235804" cy="1318441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500" spc="-150">
                <a:ln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3843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dor pre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12D255B-C49D-531B-3B11-11C84148F6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7506" y="-206907"/>
            <a:ext cx="7275153" cy="7275153"/>
          </a:xfrm>
          <a:prstGeom prst="rect">
            <a:avLst/>
          </a:prstGeom>
        </p:spPr>
      </p:pic>
      <p:sp>
        <p:nvSpPr>
          <p:cNvPr id="7" name="Title 10">
            <a:extLst>
              <a:ext uri="{FF2B5EF4-FFF2-40B4-BE49-F238E27FC236}">
                <a16:creationId xmlns:a16="http://schemas.microsoft.com/office/drawing/2014/main" id="{2F4BE986-5FF6-AD8C-FA95-8C0725DEF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897" y="2884861"/>
            <a:ext cx="5575300" cy="97909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5600" b="1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principal</a:t>
            </a:r>
            <a:endParaRPr lang="en-PT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66693BA7-517E-05B9-BA19-560A070F45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85897" y="3863952"/>
            <a:ext cx="5575300" cy="52189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2400" b="0">
                <a:solidFill>
                  <a:schemeClr val="tx1"/>
                </a:solidFill>
                <a:latin typeface="Borna" pitchFamily="50" charset="0"/>
              </a:defRPr>
            </a:lvl1pPr>
            <a:lvl2pPr marL="457200" indent="0">
              <a:buFontTx/>
              <a:buNone/>
              <a:defRPr sz="3200" b="0"/>
            </a:lvl2pPr>
            <a:lvl3pPr marL="914400" indent="0">
              <a:buFontTx/>
              <a:buNone/>
              <a:defRPr sz="3200" b="0"/>
            </a:lvl3pPr>
            <a:lvl4pPr marL="1371600" indent="0">
              <a:buFontTx/>
              <a:buNone/>
              <a:defRPr sz="3200" b="0"/>
            </a:lvl4pPr>
            <a:lvl5pPr marL="1828800" indent="0">
              <a:buFontTx/>
              <a:buNone/>
              <a:defRPr sz="3200" b="0"/>
            </a:lvl5pPr>
          </a:lstStyle>
          <a:p>
            <a:pPr lvl="0"/>
            <a:r>
              <a:rPr lang="en-GB" err="1"/>
              <a:t>Inserir</a:t>
            </a:r>
            <a:r>
              <a:rPr lang="en-GB"/>
              <a:t> </a:t>
            </a:r>
            <a:r>
              <a:rPr lang="en-GB" err="1"/>
              <a:t>texto</a:t>
            </a:r>
            <a:r>
              <a:rPr lang="en-GB"/>
              <a:t> </a:t>
            </a:r>
            <a:r>
              <a:rPr lang="en-GB" err="1"/>
              <a:t>secundário</a:t>
            </a:r>
            <a:r>
              <a:rPr lang="en-GB"/>
              <a:t> </a:t>
            </a:r>
            <a:r>
              <a:rPr lang="en-GB" err="1"/>
              <a:t>aqui</a:t>
            </a:r>
            <a:endParaRPr lang="en-PT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B03D3C-CA8A-B68A-2069-12E155788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5897" y="2217553"/>
            <a:ext cx="1705828" cy="6673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56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  <a:endParaRPr lang="en-PT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B5CF7C7-BEC2-CC93-8A76-E0486D582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5659C5D-C470-7A12-316F-F50494D3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97284A2-ED69-F12D-9C92-1AB04098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9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azul">
    <p:bg>
      <p:bgPr>
        <a:solidFill>
          <a:srgbClr val="377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2F4BE986-5FF6-AD8C-FA95-8C0725DEF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897" y="2884861"/>
            <a:ext cx="5575300" cy="97909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56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principal</a:t>
            </a:r>
            <a:endParaRPr lang="en-PT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66693BA7-517E-05B9-BA19-560A070F45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85897" y="3863952"/>
            <a:ext cx="5575300" cy="52189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2400" b="0">
                <a:solidFill>
                  <a:schemeClr val="bg1"/>
                </a:solidFill>
                <a:latin typeface="Borna" pitchFamily="50" charset="0"/>
              </a:defRPr>
            </a:lvl1pPr>
            <a:lvl2pPr marL="457200" indent="0">
              <a:buFontTx/>
              <a:buNone/>
              <a:defRPr sz="3200" b="0"/>
            </a:lvl2pPr>
            <a:lvl3pPr marL="914400" indent="0">
              <a:buFontTx/>
              <a:buNone/>
              <a:defRPr sz="3200" b="0"/>
            </a:lvl3pPr>
            <a:lvl4pPr marL="1371600" indent="0">
              <a:buFontTx/>
              <a:buNone/>
              <a:defRPr sz="3200" b="0"/>
            </a:lvl4pPr>
            <a:lvl5pPr marL="1828800" indent="0">
              <a:buFontTx/>
              <a:buNone/>
              <a:defRPr sz="3200" b="0"/>
            </a:lvl5pPr>
          </a:lstStyle>
          <a:p>
            <a:pPr lvl="0"/>
            <a:r>
              <a:rPr lang="en-GB" err="1"/>
              <a:t>Inserir</a:t>
            </a:r>
            <a:r>
              <a:rPr lang="en-GB"/>
              <a:t> </a:t>
            </a:r>
            <a:r>
              <a:rPr lang="en-GB" err="1"/>
              <a:t>texto</a:t>
            </a:r>
            <a:r>
              <a:rPr lang="en-GB"/>
              <a:t> </a:t>
            </a:r>
            <a:r>
              <a:rPr lang="en-GB" err="1"/>
              <a:t>secundário</a:t>
            </a:r>
            <a:r>
              <a:rPr lang="en-GB"/>
              <a:t> </a:t>
            </a:r>
            <a:r>
              <a:rPr lang="en-GB" err="1"/>
              <a:t>aqui</a:t>
            </a:r>
            <a:endParaRPr lang="en-PT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B03D3C-CA8A-B68A-2069-12E155788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5897" y="2217553"/>
            <a:ext cx="1705828" cy="6673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5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  <a:endParaRPr lang="en-PT" dirty="0"/>
          </a:p>
        </p:txBody>
      </p:sp>
      <p:pic>
        <p:nvPicPr>
          <p:cNvPr id="6" name="Picture 5" descr="A green and black circle&#10;&#10;AI-generated content may be incorrect.">
            <a:extLst>
              <a:ext uri="{FF2B5EF4-FFF2-40B4-BE49-F238E27FC236}">
                <a16:creationId xmlns:a16="http://schemas.microsoft.com/office/drawing/2014/main" id="{AF424454-3C9A-B9F3-C211-580D5FC93A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61112" y="706928"/>
            <a:ext cx="5451764" cy="5451764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F7840C92-9D3B-7312-4E82-B1C93799E0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7" y="6179480"/>
            <a:ext cx="2165880" cy="582381"/>
          </a:xfrm>
          <a:prstGeom prst="rect">
            <a:avLst/>
          </a:prstGeom>
        </p:spPr>
      </p:pic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B5CF7C7-BEC2-CC93-8A76-E0486D582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5659C5D-C470-7A12-316F-F50494D3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6435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20F3287-04AF-4DA6-E1C1-F9E7F7E995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6713" y="990600"/>
            <a:ext cx="11399837" cy="4982459"/>
          </a:xfrm>
          <a:prstGeom prst="rect">
            <a:avLst/>
          </a:prstGeom>
        </p:spPr>
        <p:txBody>
          <a:bodyPr lIns="0" tIns="0" rIns="0"/>
          <a:lstStyle>
            <a:lvl1pPr marL="0" indent="0">
              <a:buFontTx/>
              <a:buNone/>
              <a:defRPr sz="1000"/>
            </a:lvl1pPr>
          </a:lstStyle>
          <a:p>
            <a:pPr lvl="0"/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A5158E-80C8-B67C-21A5-63844B97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4062FAC-BB87-F89D-6F4E-002466E5AD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5EC44E8-B004-9D10-F49C-4180FA677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16" userDrawn="1">
          <p15:clr>
            <a:srgbClr val="FBAE40"/>
          </p15:clr>
        </p15:guide>
        <p15:guide id="2" orient="horz" pos="62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pre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99027F-AB27-4AC6-4D6D-897A5CB25B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901023"/>
            <a:ext cx="8263379" cy="179192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4600"/>
              </a:lnSpc>
              <a:defRPr sz="3800" spc="-150"/>
            </a:lvl1pPr>
          </a:lstStyle>
          <a:p>
            <a:r>
              <a:rPr lang="en-US"/>
              <a:t>“</a:t>
            </a:r>
            <a:r>
              <a:rPr lang="en-US" err="1"/>
              <a:t>Espaço</a:t>
            </a:r>
            <a:r>
              <a:rPr lang="en-US"/>
              <a:t> </a:t>
            </a:r>
            <a:r>
              <a:rPr lang="en-US" err="1"/>
              <a:t>reservado</a:t>
            </a:r>
            <a:r>
              <a:rPr lang="en-US"/>
              <a:t> para a </a:t>
            </a:r>
            <a:r>
              <a:rPr lang="en-US" err="1"/>
              <a:t>criação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citação</a:t>
            </a:r>
            <a:r>
              <a:rPr lang="en-US"/>
              <a:t> de </a:t>
            </a:r>
            <a:r>
              <a:rPr lang="en-US" err="1"/>
              <a:t>alguém</a:t>
            </a:r>
            <a:r>
              <a:rPr lang="en-US"/>
              <a:t>”</a:t>
            </a:r>
            <a:endParaRPr lang="pt-P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DC728B-3C04-47E7-6042-C89B802706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006850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Nome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1B8EF2F-C285-E8D6-30B5-28D2C72AF9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257759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Cargo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48DDB3-7657-7A71-5B34-03E6C033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5D89E789-D709-0009-7084-D5D26D988A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C835FCE-6C2D-88F1-5F61-5579BD5B8D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38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201A6F-9FBC-D6D1-5703-6E0D1DBBB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901023"/>
            <a:ext cx="8263379" cy="179192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4600"/>
              </a:lnSpc>
              <a:defRPr sz="3800" spc="-150"/>
            </a:lvl1pPr>
          </a:lstStyle>
          <a:p>
            <a:r>
              <a:rPr lang="en-US"/>
              <a:t>“</a:t>
            </a:r>
            <a:r>
              <a:rPr lang="en-US" err="1"/>
              <a:t>Espaço</a:t>
            </a:r>
            <a:r>
              <a:rPr lang="en-US"/>
              <a:t> </a:t>
            </a:r>
            <a:r>
              <a:rPr lang="en-US" err="1"/>
              <a:t>reservado</a:t>
            </a:r>
            <a:r>
              <a:rPr lang="en-US"/>
              <a:t> para a </a:t>
            </a:r>
            <a:r>
              <a:rPr lang="en-US" err="1"/>
              <a:t>criação</a:t>
            </a:r>
            <a:r>
              <a:rPr lang="en-US"/>
              <a:t> 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citação</a:t>
            </a:r>
            <a:r>
              <a:rPr lang="en-US"/>
              <a:t> de </a:t>
            </a:r>
            <a:r>
              <a:rPr lang="en-US" err="1"/>
              <a:t>alguém</a:t>
            </a:r>
            <a:r>
              <a:rPr lang="en-US"/>
              <a:t>”</a:t>
            </a:r>
            <a:endParaRPr lang="pt-PT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18082BC-510E-D281-6785-0E784137A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006850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Nome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5EDBFC1-DF9D-2397-E409-67C78635AE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257759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Cargo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E3D4-40E9-8D71-4390-D84E860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98BE6C8-5E21-B5F2-F9E8-6DE364C671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BC8375-4153-3FEB-FB3B-501C9E6208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80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201A6F-9FBC-D6D1-5703-6E0D1DBBB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901023"/>
            <a:ext cx="8263379" cy="179192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4600"/>
              </a:lnSpc>
              <a:defRPr sz="3800" spc="-150"/>
            </a:lvl1pPr>
          </a:lstStyle>
          <a:p>
            <a:r>
              <a:rPr lang="en-US"/>
              <a:t>“</a:t>
            </a:r>
            <a:r>
              <a:rPr lang="en-US" err="1"/>
              <a:t>Espaço</a:t>
            </a:r>
            <a:r>
              <a:rPr lang="en-US"/>
              <a:t> </a:t>
            </a:r>
            <a:r>
              <a:rPr lang="en-US" err="1"/>
              <a:t>reservado</a:t>
            </a:r>
            <a:r>
              <a:rPr lang="en-US"/>
              <a:t> para a </a:t>
            </a:r>
            <a:r>
              <a:rPr lang="en-US" err="1"/>
              <a:t>criação</a:t>
            </a:r>
            <a:r>
              <a:rPr lang="en-US"/>
              <a:t> 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citação</a:t>
            </a:r>
            <a:r>
              <a:rPr lang="en-US"/>
              <a:t> de </a:t>
            </a:r>
            <a:r>
              <a:rPr lang="en-US" err="1"/>
              <a:t>alguém</a:t>
            </a:r>
            <a:r>
              <a:rPr lang="en-US"/>
              <a:t>”</a:t>
            </a:r>
            <a:endParaRPr lang="pt-PT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18082BC-510E-D281-6785-0E784137A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006850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Nome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5EDBFC1-DF9D-2397-E409-67C78635AE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257759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Cargo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E3D4-40E9-8D71-4390-D84E860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98BE6C8-5E21-B5F2-F9E8-6DE364C671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BC8375-4153-3FEB-FB3B-501C9E6208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76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asp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72D172B-428A-B330-75B8-C124A298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107CB6D-DD27-D874-71AF-46D3F801C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A65D990-C4C3-FA89-C413-EC42715876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278848-F8AD-0196-464E-A30BD53BC40E}"/>
              </a:ext>
            </a:extLst>
          </p:cNvPr>
          <p:cNvSpPr/>
          <p:nvPr userDrawn="1"/>
        </p:nvSpPr>
        <p:spPr>
          <a:xfrm>
            <a:off x="1470025" y="1220788"/>
            <a:ext cx="1490663" cy="1214437"/>
          </a:xfrm>
          <a:custGeom>
            <a:avLst/>
            <a:gdLst/>
            <a:ahLst/>
            <a:cxnLst/>
            <a:rect l="l" t="t" r="r" b="b"/>
            <a:pathLst>
              <a:path w="734653" h="597828">
                <a:moveTo>
                  <a:pt x="690448" y="0"/>
                </a:moveTo>
                <a:lnTo>
                  <a:pt x="715708" y="107357"/>
                </a:lnTo>
                <a:cubicBezTo>
                  <a:pt x="660978" y="108760"/>
                  <a:pt x="625894" y="127004"/>
                  <a:pt x="610457" y="162087"/>
                </a:cubicBezTo>
                <a:cubicBezTo>
                  <a:pt x="595020" y="197171"/>
                  <a:pt x="587302" y="242078"/>
                  <a:pt x="587302" y="296809"/>
                </a:cubicBezTo>
                <a:lnTo>
                  <a:pt x="734653" y="296809"/>
                </a:lnTo>
                <a:lnTo>
                  <a:pt x="734653" y="597828"/>
                </a:lnTo>
                <a:lnTo>
                  <a:pt x="431530" y="597828"/>
                </a:lnTo>
                <a:cubicBezTo>
                  <a:pt x="431530" y="555727"/>
                  <a:pt x="431881" y="514679"/>
                  <a:pt x="432582" y="474684"/>
                </a:cubicBezTo>
                <a:cubicBezTo>
                  <a:pt x="433284" y="434688"/>
                  <a:pt x="434337" y="397850"/>
                  <a:pt x="435740" y="364170"/>
                </a:cubicBezTo>
                <a:cubicBezTo>
                  <a:pt x="439950" y="243482"/>
                  <a:pt x="459246" y="152615"/>
                  <a:pt x="493628" y="91569"/>
                </a:cubicBezTo>
                <a:cubicBezTo>
                  <a:pt x="528010" y="30523"/>
                  <a:pt x="593617" y="0"/>
                  <a:pt x="690448" y="0"/>
                </a:cubicBezTo>
                <a:close/>
                <a:moveTo>
                  <a:pt x="258918" y="0"/>
                </a:moveTo>
                <a:lnTo>
                  <a:pt x="284178" y="107357"/>
                </a:lnTo>
                <a:cubicBezTo>
                  <a:pt x="229447" y="108760"/>
                  <a:pt x="194364" y="127004"/>
                  <a:pt x="178927" y="162087"/>
                </a:cubicBezTo>
                <a:cubicBezTo>
                  <a:pt x="163490" y="197171"/>
                  <a:pt x="155772" y="242078"/>
                  <a:pt x="155772" y="296809"/>
                </a:cubicBezTo>
                <a:lnTo>
                  <a:pt x="303123" y="296809"/>
                </a:lnTo>
                <a:lnTo>
                  <a:pt x="303123" y="597828"/>
                </a:lnTo>
                <a:lnTo>
                  <a:pt x="0" y="597828"/>
                </a:lnTo>
                <a:cubicBezTo>
                  <a:pt x="0" y="555727"/>
                  <a:pt x="350" y="514679"/>
                  <a:pt x="1052" y="474684"/>
                </a:cubicBezTo>
                <a:cubicBezTo>
                  <a:pt x="1754" y="434688"/>
                  <a:pt x="2806" y="397850"/>
                  <a:pt x="4210" y="364170"/>
                </a:cubicBezTo>
                <a:cubicBezTo>
                  <a:pt x="8420" y="243482"/>
                  <a:pt x="27716" y="152615"/>
                  <a:pt x="62098" y="91569"/>
                </a:cubicBezTo>
                <a:cubicBezTo>
                  <a:pt x="96480" y="30523"/>
                  <a:pt x="162087" y="0"/>
                  <a:pt x="2589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A6892A92-1B1D-F2E7-B2C6-3C3CAF7B3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53985" y="1829715"/>
            <a:ext cx="8967990" cy="3292799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3600">
                <a:solidFill>
                  <a:srgbClr val="0D0E10"/>
                </a:solidFill>
              </a:defRPr>
            </a:lvl1pPr>
            <a:lvl2pPr marL="457200" indent="0">
              <a:buFontTx/>
              <a:buNone/>
              <a:defRPr sz="3600"/>
            </a:lvl2pPr>
            <a:lvl3pPr marL="914400" indent="0">
              <a:buFontTx/>
              <a:buNone/>
              <a:defRPr sz="3600"/>
            </a:lvl3pPr>
            <a:lvl4pPr marL="1371600" indent="0">
              <a:buFontTx/>
              <a:buNone/>
              <a:defRPr sz="3600"/>
            </a:lvl4pPr>
            <a:lvl5pPr marL="1828800" indent="0">
              <a:buFontTx/>
              <a:buNone/>
              <a:defRPr sz="3600"/>
            </a:lvl5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>
                <a:solidFill>
                  <a:srgbClr val="0D0E10"/>
                </a:solidFill>
                <a:latin typeface="+mj-lt"/>
              </a:rPr>
              <a:t>Embrace what you don’t know, especially in the beginning, because what you don’t know can become your greatest asset. </a:t>
            </a:r>
            <a:r>
              <a:rPr lang="en-US" sz="3600" b="1">
                <a:solidFill>
                  <a:schemeClr val="accent1"/>
                </a:solidFill>
                <a:latin typeface="+mj-lt"/>
              </a:rPr>
              <a:t>It ensures that you will absolutely be doing things </a:t>
            </a:r>
            <a:r>
              <a:rPr lang="en-US" sz="3600">
                <a:solidFill>
                  <a:srgbClr val="0D0E10"/>
                </a:solidFill>
                <a:latin typeface="+mj-lt"/>
              </a:rPr>
              <a:t>different from everybody else.”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BE9373-ED1B-10AC-C222-8DC91974FA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4188" y="5225513"/>
            <a:ext cx="8967787" cy="2282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654A0CD-9924-2436-B68F-6F72E18064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54188" y="5453797"/>
            <a:ext cx="8967787" cy="2282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Cargo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4941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pre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535467E-3C94-5733-EA54-6B14231D0F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588" y="3012012"/>
            <a:ext cx="6308725" cy="9763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8000" b="0" spc="-150">
                <a:latin typeface="+mj-lt"/>
              </a:defRPr>
            </a:lvl1pPr>
          </a:lstStyle>
          <a:p>
            <a:pPr lvl="0"/>
            <a:r>
              <a:rPr lang="en-US" err="1"/>
              <a:t>Obrigado</a:t>
            </a:r>
            <a:r>
              <a:rPr lang="en-US"/>
              <a:t>/a.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5659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416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E4B999-D1C5-EF07-7B0C-0FBFBB75D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588" y="3012012"/>
            <a:ext cx="6308725" cy="9763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8000" b="0" spc="-150">
                <a:latin typeface="+mj-lt"/>
              </a:defRPr>
            </a:lvl1pPr>
          </a:lstStyle>
          <a:p>
            <a:pPr lvl="0"/>
            <a:r>
              <a:rPr lang="en-US" err="1"/>
              <a:t>Obrigado</a:t>
            </a:r>
            <a:r>
              <a:rPr lang="en-US"/>
              <a:t>/a.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834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416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3CB5D1-FC04-36FA-D123-C3D1A53314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588" y="3012012"/>
            <a:ext cx="6308725" cy="9763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8000" b="0" spc="-150">
                <a:latin typeface="+mj-lt"/>
              </a:defRPr>
            </a:lvl1pPr>
          </a:lstStyle>
          <a:p>
            <a:pPr lvl="0"/>
            <a:r>
              <a:rPr lang="en-US" err="1"/>
              <a:t>Obrigado</a:t>
            </a:r>
            <a:r>
              <a:rPr lang="en-US"/>
              <a:t>/a.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6480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41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90" r:id="rId2"/>
    <p:sldLayoutId id="2147483691" r:id="rId3"/>
    <p:sldLayoutId id="2147483661" r:id="rId4"/>
    <p:sldLayoutId id="2147483662" r:id="rId5"/>
    <p:sldLayoutId id="2147483693" r:id="rId6"/>
    <p:sldLayoutId id="2147483703" r:id="rId7"/>
    <p:sldLayoutId id="2147483669" r:id="rId8"/>
    <p:sldLayoutId id="2147483708" r:id="rId9"/>
    <p:sldLayoutId id="2147483707" r:id="rId10"/>
    <p:sldLayoutId id="2147483676" r:id="rId11"/>
    <p:sldLayoutId id="2147483709" r:id="rId12"/>
    <p:sldLayoutId id="2147483671" r:id="rId13"/>
    <p:sldLayoutId id="2147483672" r:id="rId14"/>
    <p:sldLayoutId id="2147483673" r:id="rId15"/>
    <p:sldLayoutId id="2147483683" r:id="rId16"/>
    <p:sldLayoutId id="2147483684" r:id="rId17"/>
    <p:sldLayoutId id="2147483686" r:id="rId18"/>
    <p:sldLayoutId id="2147483687" r:id="rId19"/>
    <p:sldLayoutId id="2147483700" r:id="rId20"/>
    <p:sldLayoutId id="2147483701" r:id="rId21"/>
    <p:sldLayoutId id="2147483702" r:id="rId22"/>
    <p:sldLayoutId id="2147483682" r:id="rId23"/>
    <p:sldLayoutId id="2147483685" r:id="rId24"/>
    <p:sldLayoutId id="2147483689" r:id="rId25"/>
    <p:sldLayoutId id="2147483694" r:id="rId26"/>
    <p:sldLayoutId id="2147483710" r:id="rId27"/>
    <p:sldLayoutId id="2147483680" r:id="rId28"/>
    <p:sldLayoutId id="2147483665" r:id="rId29"/>
    <p:sldLayoutId id="2147483666" r:id="rId30"/>
    <p:sldLayoutId id="2147483699" r:id="rId31"/>
    <p:sldLayoutId id="2147483704" r:id="rId32"/>
    <p:sldLayoutId id="2147483650" r:id="rId33"/>
    <p:sldLayoutId id="2147483705" r:id="rId34"/>
    <p:sldLayoutId id="2147483706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9.xml"/><Relationship Id="rId4" Type="http://schemas.openxmlformats.org/officeDocument/2006/relationships/slide" Target="slide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20867/thm.31.1.2" TargetMode="External"/><Relationship Id="rId3" Type="http://schemas.openxmlformats.org/officeDocument/2006/relationships/hyperlink" Target="https://doi.org/10.1108/ijtc-07-2020-0142" TargetMode="External"/><Relationship Id="rId7" Type="http://schemas.openxmlformats.org/officeDocument/2006/relationships/hyperlink" Target="https://doi.org/10.5367/te.2013.0320" TargetMode="External"/><Relationship Id="rId2" Type="http://schemas.openxmlformats.org/officeDocument/2006/relationships/hyperlink" Target="https://doi.org/10.1016/j.cbrev.2023.100128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doi.org/10.5367/te.2013.0183" TargetMode="External"/><Relationship Id="rId5" Type="http://schemas.openxmlformats.org/officeDocument/2006/relationships/hyperlink" Target="https://doi.org/10.1016/j.ijhm.2011.10.003" TargetMode="External"/><Relationship Id="rId10" Type="http://schemas.openxmlformats.org/officeDocument/2006/relationships/hyperlink" Target="https://doi.org/10.1002/jtr.828" TargetMode="External"/><Relationship Id="rId4" Type="http://schemas.openxmlformats.org/officeDocument/2006/relationships/hyperlink" Target="http://www.jstor.org/stable/40472802" TargetMode="External"/><Relationship Id="rId9" Type="http://schemas.openxmlformats.org/officeDocument/2006/relationships/hyperlink" Target="https://doi.org/10.1177/1096348002026002004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biblioteca.ucm.es/data/cont/docs/393-2020-03-30-OrbisUserGuide2019.pdf" TargetMode="External"/><Relationship Id="rId3" Type="http://schemas.openxmlformats.org/officeDocument/2006/relationships/hyperlink" Target="https://doi.org/10.1016/j.tourman.2015.07.011" TargetMode="External"/><Relationship Id="rId7" Type="http://schemas.openxmlformats.org/officeDocument/2006/relationships/hyperlink" Target="https://doi.org/10.1108/ejmbe-09-2020-0261" TargetMode="External"/><Relationship Id="rId2" Type="http://schemas.openxmlformats.org/officeDocument/2006/relationships/hyperlink" Target="https://doi.org/10.5367/000000007780823131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doi.org/10.1088/1742-6596/1450/1/012080" TargetMode="External"/><Relationship Id="rId5" Type="http://schemas.openxmlformats.org/officeDocument/2006/relationships/hyperlink" Target="https://doi.org/10.1108/ijchm-03-2016-0151" TargetMode="External"/><Relationship Id="rId4" Type="http://schemas.openxmlformats.org/officeDocument/2006/relationships/hyperlink" Target="https://doi.org/10.1016/j.ijhm.2016.08.005" TargetMode="External"/><Relationship Id="rId9" Type="http://schemas.openxmlformats.org/officeDocument/2006/relationships/hyperlink" Target="https://doi.org/10.1108/09596111111122497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307/1924974" TargetMode="External"/><Relationship Id="rId2" Type="http://schemas.openxmlformats.org/officeDocument/2006/relationships/hyperlink" Target="https://www.ijert.org/research/google-map-for-implementation-of-geographic-information-system-development-search-location-smes-IJERTV6IS020283.pdf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doi.org/10.1016/j.ijhm.2013.09.004" TargetMode="External"/><Relationship Id="rId5" Type="http://schemas.openxmlformats.org/officeDocument/2006/relationships/hyperlink" Target="https://doi.org/10.18111/9789284425808" TargetMode="External"/><Relationship Id="rId4" Type="http://schemas.openxmlformats.org/officeDocument/2006/relationships/hyperlink" Target="https://doi.org/10.1016/j.ijhm.2017.11.0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31475-AAEB-2BC3-FE91-C1756B491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F7EA7-A7EE-76D4-FD8E-0F26672CBA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71EA4-A047-B0C3-92AD-AE8E3CA341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The importance of hotels’ location and distances to touristic points</a:t>
            </a:r>
          </a:p>
          <a:p>
            <a:endParaRPr lang="pt-PT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C3777F-C643-4BD7-8170-ED72C8D4F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PT" dirty="0"/>
              <a:t>Luis Francisco Matias Silvano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08E5A4-053E-0FDB-0C83-1A96E47CF1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r20201479@novaims.unl.pt</a:t>
            </a:r>
          </a:p>
        </p:txBody>
      </p:sp>
    </p:spTree>
    <p:extLst>
      <p:ext uri="{BB962C8B-B14F-4D97-AF65-F5344CB8AC3E}">
        <p14:creationId xmlns:p14="http://schemas.microsoft.com/office/powerpoint/2010/main" val="30142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D30A-262B-7804-A51A-75DB764C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2376C-7AB3-843B-55C5-9450441CCF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75903" y="2951278"/>
            <a:ext cx="6338805" cy="275712"/>
          </a:xfrm>
        </p:spPr>
        <p:txBody>
          <a:bodyPr/>
          <a:lstStyle/>
          <a:p>
            <a:r>
              <a:rPr lang="pt-PT" dirty="0"/>
              <a:t>02. </a:t>
            </a:r>
            <a:r>
              <a:rPr lang="pt-PT" dirty="0" err="1"/>
              <a:t>Literature</a:t>
            </a:r>
            <a:r>
              <a:rPr lang="pt-PT" dirty="0"/>
              <a:t> </a:t>
            </a:r>
            <a:r>
              <a:rPr lang="pt-PT" dirty="0" err="1"/>
              <a:t>Review</a:t>
            </a:r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41C5-9192-096F-9C39-F7E27EDA7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75903" y="3631603"/>
            <a:ext cx="6338805" cy="275712"/>
          </a:xfrm>
        </p:spPr>
        <p:txBody>
          <a:bodyPr/>
          <a:lstStyle/>
          <a:p>
            <a:r>
              <a:rPr lang="pt-PT" dirty="0"/>
              <a:t>03. Data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Methodology</a:t>
            </a:r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E10CE-E7FF-6942-5044-18770CA1DD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5903" y="4289522"/>
            <a:ext cx="6338805" cy="275712"/>
          </a:xfrm>
        </p:spPr>
        <p:txBody>
          <a:bodyPr/>
          <a:lstStyle/>
          <a:p>
            <a:r>
              <a:rPr lang="pt-PT" dirty="0"/>
              <a:t>04. </a:t>
            </a:r>
            <a:r>
              <a:rPr lang="pt-PT" dirty="0" err="1"/>
              <a:t>Results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Discussion</a:t>
            </a:r>
            <a:endParaRPr lang="pt-PT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3CE8C-29BB-3553-1B03-D24197AB70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75903" y="4975388"/>
            <a:ext cx="6338805" cy="275712"/>
          </a:xfrm>
        </p:spPr>
        <p:txBody>
          <a:bodyPr/>
          <a:lstStyle/>
          <a:p>
            <a:r>
              <a:rPr lang="pt-PT" dirty="0"/>
              <a:t>05. </a:t>
            </a:r>
            <a:r>
              <a:rPr lang="pt-PT" dirty="0" err="1"/>
              <a:t>Conclusion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Future </a:t>
            </a:r>
            <a:r>
              <a:rPr lang="en-US" dirty="0"/>
              <a:t>Research</a:t>
            </a:r>
            <a:endParaRPr lang="pt-P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DE81AB-25C6-F711-D7F8-7C49780367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95543" y="2328929"/>
            <a:ext cx="348105" cy="230530"/>
          </a:xfrm>
        </p:spPr>
        <p:txBody>
          <a:bodyPr/>
          <a:lstStyle/>
          <a:p>
            <a:r>
              <a:rPr lang="pt-PT" dirty="0"/>
              <a:t>04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DBC72F-E6F9-821E-98F7-B617DAD813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95543" y="3013433"/>
            <a:ext cx="348105" cy="230530"/>
          </a:xfrm>
        </p:spPr>
        <p:txBody>
          <a:bodyPr/>
          <a:lstStyle/>
          <a:p>
            <a:r>
              <a:rPr lang="pt-PT" dirty="0"/>
              <a:t>06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3D87D2-9C08-1A63-BAEA-D8C457D3FD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5543" y="3690650"/>
            <a:ext cx="348105" cy="216665"/>
          </a:xfrm>
        </p:spPr>
        <p:txBody>
          <a:bodyPr/>
          <a:lstStyle/>
          <a:p>
            <a:r>
              <a:rPr lang="pt-PT" dirty="0"/>
              <a:t>08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471BD5-5432-53F7-AA26-466826EA9D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95543" y="4345546"/>
            <a:ext cx="348105" cy="216665"/>
          </a:xfrm>
        </p:spPr>
        <p:txBody>
          <a:bodyPr/>
          <a:lstStyle/>
          <a:p>
            <a:r>
              <a:rPr lang="pt-PT" dirty="0"/>
              <a:t>11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DA0B80-1EED-6477-0F3A-2C354C7E401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5543" y="5031508"/>
            <a:ext cx="348105" cy="216665"/>
          </a:xfrm>
        </p:spPr>
        <p:txBody>
          <a:bodyPr/>
          <a:lstStyle/>
          <a:p>
            <a:r>
              <a:rPr lang="pt-PT" dirty="0"/>
              <a:t>16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819C0A-D241-F795-1CF7-31DE0BDFA8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79004" y="2283747"/>
            <a:ext cx="6338805" cy="275712"/>
          </a:xfrm>
        </p:spPr>
        <p:txBody>
          <a:bodyPr/>
          <a:lstStyle/>
          <a:p>
            <a:r>
              <a:rPr lang="pt-PT" dirty="0"/>
              <a:t>01. </a:t>
            </a:r>
            <a:r>
              <a:rPr lang="pt-PT" dirty="0" err="1"/>
              <a:t>Introduction</a:t>
            </a:r>
            <a:endParaRPr lang="pt-PT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1B4629-1082-5D53-6BDE-C664591A26CB}"/>
              </a:ext>
            </a:extLst>
          </p:cNvPr>
          <p:cNvCxnSpPr>
            <a:cxnSpLocks/>
          </p:cNvCxnSpPr>
          <p:nvPr/>
        </p:nvCxnSpPr>
        <p:spPr>
          <a:xfrm>
            <a:off x="2866772" y="2649500"/>
            <a:ext cx="68768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C935ECF-F38B-97B3-1618-3D249850C239}"/>
              </a:ext>
            </a:extLst>
          </p:cNvPr>
          <p:cNvCxnSpPr>
            <a:cxnSpLocks/>
          </p:cNvCxnSpPr>
          <p:nvPr/>
        </p:nvCxnSpPr>
        <p:spPr>
          <a:xfrm>
            <a:off x="2876204" y="3323267"/>
            <a:ext cx="6886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1BA1922-6ECC-3288-182E-F845CC32F951}"/>
              </a:ext>
            </a:extLst>
          </p:cNvPr>
          <p:cNvCxnSpPr>
            <a:cxnSpLocks/>
          </p:cNvCxnSpPr>
          <p:nvPr/>
        </p:nvCxnSpPr>
        <p:spPr>
          <a:xfrm>
            <a:off x="2866772" y="3997033"/>
            <a:ext cx="689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0CD50AD-1BDC-EEA0-B2C1-6B7F9D4C6ABE}"/>
              </a:ext>
            </a:extLst>
          </p:cNvPr>
          <p:cNvCxnSpPr>
            <a:cxnSpLocks/>
          </p:cNvCxnSpPr>
          <p:nvPr/>
        </p:nvCxnSpPr>
        <p:spPr>
          <a:xfrm>
            <a:off x="2866772" y="4670798"/>
            <a:ext cx="68957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74F703E-2369-5BAB-3B45-B27F1B6BB9AF}"/>
              </a:ext>
            </a:extLst>
          </p:cNvPr>
          <p:cNvCxnSpPr>
            <a:cxnSpLocks/>
          </p:cNvCxnSpPr>
          <p:nvPr/>
        </p:nvCxnSpPr>
        <p:spPr>
          <a:xfrm>
            <a:off x="2876204" y="5344562"/>
            <a:ext cx="688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93DF49-A23C-8489-2BFD-003B532BA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03A3F600-FC04-E23E-E2D5-1CE03D3B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r>
              <a:rPr lang="en-US" dirty="0"/>
              <a:t>0</a:t>
            </a:r>
            <a:fld id="{F5D87A1C-04A5-464D-9747-6D64679AA987}" type="slidenum">
              <a:rPr lang="en-PT" smtClean="0"/>
              <a:pPr/>
              <a:t>2</a:t>
            </a:fld>
            <a:endParaRPr lang="en-PT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A3F2528-446C-086F-E5DA-9C4F50BED6F7}"/>
              </a:ext>
            </a:extLst>
          </p:cNvPr>
          <p:cNvSpPr txBox="1">
            <a:spLocks/>
          </p:cNvSpPr>
          <p:nvPr/>
        </p:nvSpPr>
        <p:spPr>
          <a:xfrm>
            <a:off x="403224" y="703815"/>
            <a:ext cx="11385549" cy="481012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6000" b="1" dirty="0"/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820117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8E01-DD2D-FFDC-DA8E-06C2FC4F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858378B-4BEF-B303-B8EB-A3EA56B5E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Introduction</a:t>
            </a:r>
            <a:endParaRPr lang="pt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3B2CF9-7DF7-9EBD-FE60-60EF1ADFCC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Motivation, Research Question, and Objectives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CE7688-65BE-8EFB-927A-83F35209A1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PT" b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A1330E-603F-F162-4867-666FBB1139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36E869D1-AD79-D768-843F-83E22305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r>
              <a:rPr lang="en-US" dirty="0"/>
              <a:t>0</a:t>
            </a:r>
            <a:fld id="{F5D87A1C-04A5-464D-9747-6D64679AA987}" type="slidenum">
              <a:rPr lang="en-PT" smtClean="0"/>
              <a:pPr/>
              <a:t>3</a:t>
            </a:fld>
            <a:endParaRPr lang="en-PT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93EE6-33DE-4E75-9EB3-07B4209BF2EC}"/>
              </a:ext>
            </a:extLst>
          </p:cNvPr>
          <p:cNvSpPr/>
          <p:nvPr/>
        </p:nvSpPr>
        <p:spPr>
          <a:xfrm>
            <a:off x="3985897" y="4479265"/>
            <a:ext cx="55753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409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6D15-E50E-D7C8-6999-95A64D1A1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2F0E064-E87C-C7D9-9796-5F19F90A46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691970"/>
            <a:ext cx="11385550" cy="481012"/>
          </a:xfrm>
        </p:spPr>
        <p:txBody>
          <a:bodyPr/>
          <a:lstStyle/>
          <a:p>
            <a:r>
              <a:rPr lang="pt-PT" dirty="0" err="1"/>
              <a:t>Introduction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C3135-B63C-ACA2-1890-C9689299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0</a:t>
            </a:r>
            <a:fld id="{A0D66464-C8A0-4770-B432-C3F136AF0291}" type="slidenum">
              <a:rPr lang="pt-PT" smtClean="0"/>
              <a:pPr/>
              <a:t>4</a:t>
            </a:fld>
            <a:endParaRPr lang="pt-PT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8FE46D-F5D3-58A1-B67C-117E3D512E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AE2D2A23-B0A1-6C01-673B-84FCA15025C9}"/>
              </a:ext>
            </a:extLst>
          </p:cNvPr>
          <p:cNvSpPr txBox="1">
            <a:spLocks/>
          </p:cNvSpPr>
          <p:nvPr/>
        </p:nvSpPr>
        <p:spPr>
          <a:xfrm>
            <a:off x="380999" y="1364291"/>
            <a:ext cx="11385549" cy="48833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latin typeface="+mn-lt"/>
              </a:rPr>
              <a:t>Motivation</a:t>
            </a:r>
            <a:endParaRPr lang="en-US" altLang="en-US" sz="1600" dirty="0">
              <a:latin typeface="+mn-lt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+mn-lt"/>
              </a:rPr>
              <a:t>The </a:t>
            </a:r>
            <a:r>
              <a:rPr lang="en-US" sz="1600" b="1" dirty="0">
                <a:latin typeface="+mn-lt"/>
              </a:rPr>
              <a:t>hotel sector</a:t>
            </a:r>
            <a:r>
              <a:rPr lang="en-US" sz="1600" dirty="0">
                <a:latin typeface="+mn-lt"/>
              </a:rPr>
              <a:t> is a key pillar of this activity, </a:t>
            </a:r>
            <a:r>
              <a:rPr lang="en-US" sz="1600" b="1" dirty="0">
                <a:latin typeface="+mn-lt"/>
              </a:rPr>
              <a:t>driving</a:t>
            </a:r>
            <a:r>
              <a:rPr lang="en-US" sz="1600" dirty="0">
                <a:latin typeface="+mn-lt"/>
              </a:rPr>
              <a:t> </a:t>
            </a:r>
            <a:r>
              <a:rPr lang="en-US" sz="1600" b="1" dirty="0">
                <a:latin typeface="+mn-lt"/>
              </a:rPr>
              <a:t>growth</a:t>
            </a:r>
            <a:r>
              <a:rPr lang="en-US" sz="1600" dirty="0">
                <a:latin typeface="+mn-lt"/>
              </a:rPr>
              <a:t>, </a:t>
            </a:r>
            <a:r>
              <a:rPr lang="en-US" sz="1600" b="1" dirty="0">
                <a:latin typeface="+mn-lt"/>
              </a:rPr>
              <a:t>employment</a:t>
            </a:r>
            <a:r>
              <a:rPr lang="en-US" sz="1600" dirty="0">
                <a:latin typeface="+mn-lt"/>
              </a:rPr>
              <a:t>, and </a:t>
            </a:r>
            <a:r>
              <a:rPr lang="en-US" sz="1600" b="1" dirty="0">
                <a:latin typeface="+mn-lt"/>
              </a:rPr>
              <a:t>trade</a:t>
            </a:r>
            <a:r>
              <a:rPr lang="en-US" sz="1600" dirty="0">
                <a:latin typeface="+mn-lt"/>
              </a:rPr>
              <a:t>. Tourism around the </a:t>
            </a:r>
            <a:r>
              <a:rPr lang="en-US" sz="1600" b="1" dirty="0">
                <a:latin typeface="+mn-lt"/>
              </a:rPr>
              <a:t>world</a:t>
            </a:r>
            <a:r>
              <a:rPr lang="en-US" sz="1600" dirty="0">
                <a:latin typeface="+mn-lt"/>
              </a:rPr>
              <a:t> generated </a:t>
            </a:r>
            <a:r>
              <a:rPr lang="en-US" sz="1600" b="1" dirty="0">
                <a:latin typeface="+mn-lt"/>
              </a:rPr>
              <a:t>USD 1.5 trillion in receipts and 3% of GDP</a:t>
            </a:r>
            <a:r>
              <a:rPr lang="en-US" sz="1600" dirty="0">
                <a:latin typeface="+mn-lt"/>
              </a:rPr>
              <a:t> in 2023 </a:t>
            </a:r>
            <a:r>
              <a:rPr lang="en-US" sz="16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(UNWTO, 2024)</a:t>
            </a:r>
            <a:r>
              <a:rPr lang="en-US" sz="16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</a:rPr>
              <a:t>. </a:t>
            </a:r>
            <a:r>
              <a:rPr lang="en-US" sz="1600" dirty="0">
                <a:latin typeface="+mn-lt"/>
              </a:rPr>
              <a:t>Europe remained the top destination, and in </a:t>
            </a:r>
            <a:r>
              <a:rPr lang="en-US" sz="1600" b="1" dirty="0">
                <a:latin typeface="+mn-lt"/>
              </a:rPr>
              <a:t>Portugal</a:t>
            </a:r>
            <a:r>
              <a:rPr lang="en-US" sz="1600" dirty="0">
                <a:latin typeface="+mn-lt"/>
              </a:rPr>
              <a:t>, tourism represented </a:t>
            </a:r>
            <a:r>
              <a:rPr lang="en-US" sz="1600" b="1" dirty="0">
                <a:latin typeface="+mn-lt"/>
              </a:rPr>
              <a:t>20% of GDP</a:t>
            </a:r>
            <a:r>
              <a:rPr lang="en-US" sz="1600" dirty="0">
                <a:latin typeface="+mn-lt"/>
              </a:rPr>
              <a:t> </a:t>
            </a:r>
            <a:r>
              <a:rPr lang="en-US" sz="16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(UNWTO, 2024)</a:t>
            </a:r>
            <a:r>
              <a:rPr lang="en-US" sz="16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</a:rPr>
              <a:t>.</a:t>
            </a:r>
            <a:r>
              <a:rPr lang="en-US" sz="1600" dirty="0">
                <a:latin typeface="+mn-lt"/>
              </a:rPr>
              <a:t>This thesis examines </a:t>
            </a:r>
            <a:r>
              <a:rPr lang="en-US" sz="1600" b="1" dirty="0">
                <a:latin typeface="+mn-lt"/>
              </a:rPr>
              <a:t>credit risk determinants</a:t>
            </a:r>
            <a:r>
              <a:rPr lang="en-US" sz="1600" dirty="0">
                <a:latin typeface="+mn-lt"/>
              </a:rPr>
              <a:t> in the hotel industry, focusing on </a:t>
            </a:r>
            <a:r>
              <a:rPr lang="en-US" sz="1600" b="1" dirty="0">
                <a:latin typeface="+mn-lt"/>
              </a:rPr>
              <a:t>hotel location</a:t>
            </a:r>
            <a:r>
              <a:rPr lang="en-US" sz="1600" dirty="0">
                <a:latin typeface="+mn-lt"/>
              </a:rPr>
              <a:t> and </a:t>
            </a:r>
            <a:r>
              <a:rPr lang="en-US" sz="1600" b="1" dirty="0">
                <a:latin typeface="+mn-lt"/>
              </a:rPr>
              <a:t>proximity to tourist attractions</a:t>
            </a:r>
            <a:r>
              <a:rPr lang="en-US" sz="1600" dirty="0">
                <a:latin typeface="+mn-lt"/>
              </a:rPr>
              <a:t> (such as beaches, castles, churches), extending </a:t>
            </a:r>
            <a:r>
              <a:rPr lang="en-US" sz="16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Vivel-</a:t>
            </a:r>
            <a:r>
              <a:rPr lang="en-US" sz="1600" u="sng" dirty="0" err="1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Búa</a:t>
            </a:r>
            <a:r>
              <a:rPr lang="en-US" sz="16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 (2018).</a:t>
            </a:r>
            <a:endParaRPr lang="en-US" sz="1600" u="sng" dirty="0">
              <a:solidFill>
                <a:srgbClr val="5C666C"/>
              </a:solidFill>
              <a:uFill>
                <a:solidFill>
                  <a:schemeClr val="bg1"/>
                </a:solidFill>
              </a:uFill>
              <a:latin typeface="+mn-lt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+mn-lt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latin typeface="+mn-lt"/>
              </a:rPr>
              <a:t>Research Question</a:t>
            </a:r>
            <a:endParaRPr lang="en-US" sz="1600" dirty="0">
              <a:latin typeface="+mn-lt"/>
            </a:endParaRPr>
          </a:p>
          <a:p>
            <a:pPr marL="0" indent="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i="1" dirty="0">
                <a:latin typeface="+mn-lt"/>
              </a:rPr>
              <a:t>How do hotel location and nearby touristic attractions influence financial performance and credit risk?</a:t>
            </a:r>
            <a:endParaRPr lang="en-US" altLang="en-US" sz="1600" dirty="0"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+mn-lt"/>
              </a:rPr>
              <a:t>Objectives</a:t>
            </a:r>
            <a:endParaRPr lang="en-US" sz="160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+mn-lt"/>
              </a:rPr>
              <a:t>Identify </a:t>
            </a:r>
            <a:r>
              <a:rPr lang="en-US" sz="1600" b="1" dirty="0">
                <a:latin typeface="+mn-lt"/>
              </a:rPr>
              <a:t>location-based drivers </a:t>
            </a:r>
            <a:r>
              <a:rPr lang="en-US" sz="1600" dirty="0">
                <a:latin typeface="+mn-lt"/>
              </a:rPr>
              <a:t>of credit risk.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+mn-lt"/>
              </a:rPr>
              <a:t>Assess financial impact of </a:t>
            </a:r>
            <a:r>
              <a:rPr lang="en-US" sz="1600" b="1" dirty="0">
                <a:latin typeface="+mn-lt"/>
              </a:rPr>
              <a:t>proximity to touristic attractions</a:t>
            </a:r>
            <a:r>
              <a:rPr lang="en-US" sz="1600" dirty="0">
                <a:latin typeface="+mn-lt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+mn-lt"/>
              </a:rPr>
              <a:t>Support decisions by</a:t>
            </a:r>
            <a:r>
              <a:rPr lang="en-US" sz="1600" b="1" dirty="0">
                <a:latin typeface="+mn-lt"/>
              </a:rPr>
              <a:t> banks, </a:t>
            </a:r>
            <a:r>
              <a:rPr lang="en-US" sz="1600" b="1" dirty="0"/>
              <a:t>investors,</a:t>
            </a:r>
            <a:r>
              <a:rPr lang="en-US" sz="1600" b="1" dirty="0">
                <a:latin typeface="+mn-lt"/>
              </a:rPr>
              <a:t> and policymakers</a:t>
            </a:r>
            <a:r>
              <a:rPr lang="en-US" sz="1600" dirty="0">
                <a:latin typeface="+mn-lt"/>
              </a:rPr>
              <a:t>.</a:t>
            </a:r>
          </a:p>
          <a:p>
            <a:pPr marL="457200" lvl="1" indent="0" algn="just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8316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D8A8-624C-CA10-34A3-A6F2E838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0D2E76-7D22-EC26-F179-E3EFC5A0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96" y="2884861"/>
            <a:ext cx="6015353" cy="979091"/>
          </a:xfrm>
        </p:spPr>
        <p:txBody>
          <a:bodyPr/>
          <a:lstStyle/>
          <a:p>
            <a:r>
              <a:rPr lang="pt-PT" dirty="0" err="1"/>
              <a:t>Literature</a:t>
            </a:r>
            <a:r>
              <a:rPr lang="pt-PT" dirty="0"/>
              <a:t> </a:t>
            </a:r>
            <a:r>
              <a:rPr lang="pt-PT" dirty="0" err="1"/>
              <a:t>Review</a:t>
            </a:r>
            <a:endParaRPr lang="pt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03C324-15E0-32DF-7064-0E5EFD7A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Study Context and Research Gap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EAD770-6B5D-EEFC-85DA-E6A09B2E47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b="0" dirty="0"/>
              <a:t>02.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A2FBA59-0316-4E40-AD69-3A7860AFCF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9347593-C185-D815-5FAD-D7414CF4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r>
              <a:rPr lang="en-US" dirty="0"/>
              <a:t>0</a:t>
            </a:r>
            <a:fld id="{F5D87A1C-04A5-464D-9747-6D64679AA987}" type="slidenum">
              <a:rPr lang="en-PT" smtClean="0"/>
              <a:pPr/>
              <a:t>5</a:t>
            </a:fld>
            <a:endParaRPr lang="en-PT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0730A-3B19-15E3-3010-02A7A2DE0F58}"/>
              </a:ext>
            </a:extLst>
          </p:cNvPr>
          <p:cNvSpPr/>
          <p:nvPr/>
        </p:nvSpPr>
        <p:spPr>
          <a:xfrm>
            <a:off x="3985897" y="4362983"/>
            <a:ext cx="55753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30990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1E64-E980-E669-627F-5B0F63FD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5D66DE1-86E4-A108-AFFD-AD3C92241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Literature</a:t>
            </a:r>
            <a:r>
              <a:rPr lang="pt-PT" dirty="0"/>
              <a:t> </a:t>
            </a:r>
            <a:r>
              <a:rPr lang="pt-PT" dirty="0" err="1"/>
              <a:t>Review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71BBF-AEC0-F716-4DB7-51E74CAC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0</a:t>
            </a:r>
            <a:fld id="{A0D66464-C8A0-4770-B432-C3F136AF0291}" type="slidenum">
              <a:rPr lang="pt-PT" smtClean="0"/>
              <a:pPr/>
              <a:t>6</a:t>
            </a:fld>
            <a:endParaRPr lang="pt-PT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F1396C-A1FD-FF58-ED7C-513A7B5D25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199D78E6-C24D-79F1-1721-53D8A3682E23}"/>
              </a:ext>
            </a:extLst>
          </p:cNvPr>
          <p:cNvSpPr txBox="1">
            <a:spLocks/>
          </p:cNvSpPr>
          <p:nvPr/>
        </p:nvSpPr>
        <p:spPr>
          <a:xfrm>
            <a:off x="380999" y="1256862"/>
            <a:ext cx="11385549" cy="50092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+mn-lt"/>
              </a:rPr>
              <a:t>What Previous Studies Found</a:t>
            </a:r>
            <a:endParaRPr lang="en-US" sz="1700" dirty="0">
              <a:latin typeface="+mn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+mn-lt"/>
              </a:rPr>
              <a:t>Credit risk linked to </a:t>
            </a:r>
            <a:r>
              <a:rPr lang="en-US" altLang="en-US" sz="1700" b="1" dirty="0">
                <a:latin typeface="+mn-lt"/>
              </a:rPr>
              <a:t>financials</a:t>
            </a:r>
            <a:r>
              <a:rPr lang="en-US" altLang="en-US" sz="1700" dirty="0">
                <a:latin typeface="+mn-lt"/>
              </a:rPr>
              <a:t> and </a:t>
            </a:r>
            <a:r>
              <a:rPr lang="en-US" sz="1700" dirty="0">
                <a:latin typeface="+mn-lt"/>
              </a:rPr>
              <a:t>tourist </a:t>
            </a:r>
            <a:r>
              <a:rPr lang="en-US" sz="1700" b="1" dirty="0">
                <a:latin typeface="+mn-lt"/>
              </a:rPr>
              <a:t>destination center</a:t>
            </a:r>
            <a:r>
              <a:rPr lang="en-US" altLang="en-US" sz="1700" dirty="0">
                <a:latin typeface="+mn-lt"/>
              </a:rPr>
              <a:t> 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(Kim et al., 2012;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</a:rPr>
              <a:t> 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Vivel-</a:t>
            </a:r>
            <a:r>
              <a:rPr lang="en-US" altLang="en-US" sz="1700" u="sng" dirty="0" err="1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Búa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al., 2018)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</a:rPr>
              <a:t>.</a:t>
            </a:r>
            <a:endParaRPr lang="en-US" sz="1700" u="sng" dirty="0">
              <a:solidFill>
                <a:srgbClr val="5C666C"/>
              </a:solidFill>
              <a:highlight>
                <a:srgbClr val="FFFF00"/>
              </a:highlight>
              <a:uFill>
                <a:solidFill>
                  <a:schemeClr val="bg1"/>
                </a:solidFill>
              </a:uFill>
              <a:latin typeface="+mn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 dirty="0">
                <a:highlight>
                  <a:srgbClr val="FFFFFF"/>
                </a:highlight>
                <a:latin typeface="+mn-lt"/>
              </a:rPr>
              <a:t>Location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, </a:t>
            </a:r>
            <a:r>
              <a:rPr lang="en-US" sz="1700" b="1" dirty="0">
                <a:highlight>
                  <a:srgbClr val="FFFFFF"/>
                </a:highlight>
                <a:latin typeface="+mn-lt"/>
              </a:rPr>
              <a:t>competition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, and </a:t>
            </a:r>
            <a:r>
              <a:rPr lang="en-US" sz="1700" b="1" dirty="0">
                <a:highlight>
                  <a:srgbClr val="FFFFFF"/>
                </a:highlight>
                <a:latin typeface="+mn-lt"/>
              </a:rPr>
              <a:t>agglomeration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 shape hotel performance</a:t>
            </a:r>
            <a:r>
              <a:rPr lang="en-US" sz="1700" dirty="0">
                <a:solidFill>
                  <a:srgbClr val="5C666C"/>
                </a:solidFill>
                <a:highlight>
                  <a:srgbClr val="FFFFFF"/>
                </a:highlight>
                <a:latin typeface="+mn-lt"/>
              </a:rPr>
              <a:t> </a:t>
            </a:r>
            <a:r>
              <a:rPr lang="en-U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s-E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Lado-</a:t>
            </a:r>
            <a:r>
              <a:rPr lang="es-ES" sz="1700" u="sng" dirty="0" err="1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Sestayo</a:t>
            </a:r>
            <a:r>
              <a:rPr lang="es-E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V., </a:t>
            </a:r>
            <a:r>
              <a:rPr lang="es-ES" sz="1700" u="sng" dirty="0" err="1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Vivel</a:t>
            </a:r>
            <a:r>
              <a:rPr lang="es-E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-Búa, M., &amp; Otero-González, L. (2017)</a:t>
            </a:r>
            <a:r>
              <a:rPr lang="es-ES" sz="1700" dirty="0">
                <a:solidFill>
                  <a:srgbClr val="5C666C"/>
                </a:solidFill>
                <a:highlight>
                  <a:srgbClr val="FFFFFF"/>
                </a:highlight>
                <a:latin typeface="+mn-lt"/>
              </a:rPr>
              <a:t>.</a:t>
            </a:r>
            <a:r>
              <a:rPr lang="en-US" sz="1700" dirty="0">
                <a:solidFill>
                  <a:srgbClr val="5C666C"/>
                </a:solidFill>
                <a:highlight>
                  <a:srgbClr val="FFFFFF"/>
                </a:highlight>
                <a:latin typeface="+mn-lt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highlight>
                  <a:srgbClr val="FFFFFF"/>
                </a:highlight>
                <a:latin typeface="+mn-lt"/>
              </a:rPr>
              <a:t>Profitability</a:t>
            </a:r>
            <a:r>
              <a:rPr lang="en-US" altLang="en-US" sz="1700" dirty="0">
                <a:highlight>
                  <a:srgbClr val="FFFFFF"/>
                </a:highlight>
                <a:latin typeface="+mn-lt"/>
              </a:rPr>
              <a:t> and </a:t>
            </a:r>
            <a:r>
              <a:rPr lang="en-US" altLang="en-US" sz="1700" b="1" dirty="0">
                <a:highlight>
                  <a:srgbClr val="FFFFFF"/>
                </a:highlight>
                <a:latin typeface="+mn-lt"/>
              </a:rPr>
              <a:t>efficiency</a:t>
            </a:r>
            <a:r>
              <a:rPr lang="en-US" altLang="en-US" sz="1700" dirty="0">
                <a:highlight>
                  <a:srgbClr val="FFFFFF"/>
                </a:highlight>
                <a:latin typeface="+mn-lt"/>
              </a:rPr>
              <a:t> lower financial distress </a:t>
            </a:r>
            <a:r>
              <a:rPr lang="es-E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(Kim et al., 2002, 2007; Chen, 2013</a:t>
            </a:r>
            <a:r>
              <a:rPr lang="es-ES" sz="1700" dirty="0">
                <a:highlight>
                  <a:srgbClr val="FFFFFF"/>
                </a:highlight>
                <a:latin typeface="+mn-lt"/>
              </a:rPr>
              <a:t>; </a:t>
            </a:r>
            <a:r>
              <a:rPr lang="es-E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Lado-</a:t>
            </a:r>
            <a:r>
              <a:rPr lang="es-ES" sz="1700" u="sng" dirty="0" err="1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Sestayo</a:t>
            </a:r>
            <a:r>
              <a:rPr lang="es-E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Otero-González, </a:t>
            </a:r>
            <a:r>
              <a:rPr lang="es-ES" sz="1700" u="sng" dirty="0" err="1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Vivel</a:t>
            </a:r>
            <a:r>
              <a:rPr lang="es-E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-Búa, &amp; Martorell-Cunill, 2016)</a:t>
            </a:r>
            <a:r>
              <a:rPr lang="en-US" altLang="en-U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en-US" sz="1700" u="sng" dirty="0">
              <a:solidFill>
                <a:srgbClr val="5C666C"/>
              </a:solidFill>
              <a:highlight>
                <a:srgbClr val="FFFFFF"/>
              </a:highlight>
              <a:uFill>
                <a:solidFill>
                  <a:schemeClr val="bg1"/>
                </a:solidFill>
              </a:uFill>
              <a:latin typeface="+mn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 dirty="0">
                <a:highlight>
                  <a:srgbClr val="FFFFFF"/>
                </a:highlight>
                <a:latin typeface="+mn-lt"/>
              </a:rPr>
              <a:t>Proximity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 to </a:t>
            </a:r>
            <a:r>
              <a:rPr lang="en-US" sz="1700" b="1" dirty="0">
                <a:highlight>
                  <a:srgbClr val="FFFFFF"/>
                </a:highlight>
                <a:latin typeface="+mn-lt"/>
              </a:rPr>
              <a:t>urban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 and </a:t>
            </a:r>
            <a:r>
              <a:rPr lang="en-US" sz="1700" b="1" dirty="0">
                <a:highlight>
                  <a:srgbClr val="FFFFFF"/>
                </a:highlight>
                <a:latin typeface="+mn-lt"/>
              </a:rPr>
              <a:t>coastal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 </a:t>
            </a:r>
            <a:r>
              <a:rPr lang="en-US" sz="1700" b="1" dirty="0">
                <a:highlight>
                  <a:srgbClr val="FFFFFF"/>
                </a:highlight>
                <a:latin typeface="+mn-lt"/>
              </a:rPr>
              <a:t>attractions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 enhances hotel performance </a:t>
            </a:r>
            <a:r>
              <a:rPr lang="en-US" sz="1700" u="sng" dirty="0">
                <a:solidFill>
                  <a:srgbClr val="5C666C"/>
                </a:solidFill>
                <a:highlight>
                  <a:srgbClr val="FFFFFF"/>
                </a:highlight>
                <a:uFill>
                  <a:solidFill>
                    <a:schemeClr val="bg1"/>
                  </a:solidFill>
                </a:uFill>
                <a:latin typeface="+mn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(Alvarez et al., 2021; Sánchez-Sánchez, 2021)</a:t>
            </a:r>
            <a:r>
              <a:rPr lang="en-US" sz="1700" dirty="0">
                <a:highlight>
                  <a:srgbClr val="FFFFFF"/>
                </a:highlight>
                <a:latin typeface="+mn-lt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+mn-lt"/>
              </a:rPr>
              <a:t>Larger </a:t>
            </a:r>
            <a:r>
              <a:rPr lang="en-US" altLang="en-US" sz="1700" b="1" dirty="0">
                <a:latin typeface="+mn-lt"/>
              </a:rPr>
              <a:t>size</a:t>
            </a:r>
            <a:r>
              <a:rPr lang="en-US" altLang="en-US" sz="1700" dirty="0">
                <a:latin typeface="+mn-lt"/>
              </a:rPr>
              <a:t> reduces risk via scale effects 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(Ang et al., 1985)</a:t>
            </a:r>
            <a:r>
              <a:rPr lang="en-US" altLang="en-US" sz="1700" dirty="0">
                <a:solidFill>
                  <a:srgbClr val="5C666C"/>
                </a:solidFill>
                <a:latin typeface="+mn-lt"/>
              </a:rPr>
              <a:t>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+mn-lt"/>
              </a:rPr>
              <a:t>Research Gap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n-lt"/>
              </a:rPr>
              <a:t>1) </a:t>
            </a:r>
            <a:r>
              <a:rPr lang="en-US" sz="1600" dirty="0">
                <a:latin typeface="+mn-lt"/>
              </a:rPr>
              <a:t>We applied </a:t>
            </a:r>
            <a:r>
              <a:rPr lang="en-US" sz="1600" b="1" dirty="0">
                <a:latin typeface="+mn-lt"/>
              </a:rPr>
              <a:t>different definition of location</a:t>
            </a:r>
            <a:r>
              <a:rPr lang="en-US" sz="1600" dirty="0">
                <a:latin typeface="+mn-lt"/>
              </a:rPr>
              <a:t> and </a:t>
            </a:r>
            <a:r>
              <a:rPr lang="en-US" sz="1600" b="1" dirty="0">
                <a:latin typeface="+mn-lt"/>
              </a:rPr>
              <a:t>touristic attraction</a:t>
            </a:r>
            <a:r>
              <a:rPr lang="en-US" sz="1600" dirty="0">
                <a:latin typeface="+mn-lt"/>
              </a:rPr>
              <a:t>.</a:t>
            </a:r>
            <a:endParaRPr lang="en-US" altLang="en-US" sz="1700" dirty="0">
              <a:latin typeface="+mn-lt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n-lt"/>
              </a:rPr>
              <a:t>2) None of the previous studies have directly analyzed </a:t>
            </a:r>
            <a:r>
              <a:rPr lang="en-US" altLang="en-US" sz="1700" b="1" dirty="0">
                <a:latin typeface="+mn-lt"/>
              </a:rPr>
              <a:t>how proximity to specific tourist attractions</a:t>
            </a:r>
            <a:r>
              <a:rPr lang="en-US" altLang="en-US" sz="1700" dirty="0">
                <a:latin typeface="+mn-lt"/>
              </a:rPr>
              <a:t>—such as beaches, castles, or churches—affects credit risk.</a:t>
            </a:r>
          </a:p>
          <a:p>
            <a:pPr marL="0" indent="0">
              <a:buNone/>
            </a:pPr>
            <a:r>
              <a:rPr lang="en-US" altLang="en-US" sz="1600" dirty="0">
                <a:latin typeface="+mn-lt"/>
              </a:rPr>
              <a:t>3) </a:t>
            </a:r>
            <a:r>
              <a:rPr lang="en-US" sz="1600" dirty="0">
                <a:latin typeface="+mn-lt"/>
              </a:rPr>
              <a:t>How the </a:t>
            </a:r>
            <a:r>
              <a:rPr lang="en-US" sz="1600" b="1" dirty="0">
                <a:latin typeface="+mn-lt"/>
              </a:rPr>
              <a:t>critical mass</a:t>
            </a:r>
            <a:r>
              <a:rPr lang="en-US" sz="1600" dirty="0">
                <a:latin typeface="+mn-lt"/>
              </a:rPr>
              <a:t> of touristic attractions </a:t>
            </a:r>
            <a:r>
              <a:rPr lang="en-US" sz="1600" b="1" dirty="0">
                <a:latin typeface="+mn-lt"/>
              </a:rPr>
              <a:t>influences financial ratios and control variables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+mn-lt"/>
              </a:rPr>
              <a:t>This Study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+mn-lt"/>
              </a:rPr>
              <a:t>Uses </a:t>
            </a:r>
            <a:r>
              <a:rPr lang="en-US" sz="1700" dirty="0">
                <a:latin typeface="+mn-lt"/>
              </a:rPr>
              <a:t>spatial analysis concepts 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(Sholeh et al., 2017)</a:t>
            </a:r>
            <a:r>
              <a:rPr lang="en-US" altLang="en-US" sz="1700" dirty="0">
                <a:latin typeface="+mn-lt"/>
              </a:rPr>
              <a:t> to measure, store </a:t>
            </a:r>
            <a:r>
              <a:rPr lang="en-US" altLang="en-US" sz="1700" b="1" dirty="0">
                <a:latin typeface="+mn-lt"/>
              </a:rPr>
              <a:t>hotel distances</a:t>
            </a:r>
            <a:r>
              <a:rPr lang="en-US" altLang="en-US" sz="1700" dirty="0">
                <a:latin typeface="+mn-lt"/>
              </a:rPr>
              <a:t> to multiple </a:t>
            </a:r>
            <a:r>
              <a:rPr lang="en-US" altLang="en-US" sz="1700" b="1" dirty="0">
                <a:latin typeface="+mn-lt"/>
              </a:rPr>
              <a:t>tourist attractions</a:t>
            </a:r>
            <a:r>
              <a:rPr lang="en-US" altLang="en-US" sz="1700" dirty="0">
                <a:latin typeface="+mn-lt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dirty="0">
                <a:latin typeface="+mn-lt"/>
              </a:rPr>
              <a:t>Combines these with </a:t>
            </a:r>
            <a:r>
              <a:rPr lang="en-US" sz="1700" b="1" dirty="0">
                <a:latin typeface="+mn-lt"/>
              </a:rPr>
              <a:t>financial variables</a:t>
            </a:r>
            <a:r>
              <a:rPr lang="en-US" sz="1700" dirty="0">
                <a:latin typeface="+mn-lt"/>
              </a:rPr>
              <a:t> and </a:t>
            </a:r>
            <a:r>
              <a:rPr lang="en-US" sz="1700" b="1" dirty="0">
                <a:latin typeface="+mn-lt"/>
              </a:rPr>
              <a:t>hotel-specific characteristics</a:t>
            </a:r>
            <a:r>
              <a:rPr lang="en-US" sz="1700" dirty="0">
                <a:latin typeface="+mn-lt"/>
              </a:rPr>
              <a:t> as credit risk determinants.</a:t>
            </a:r>
            <a:endParaRPr lang="en-US" altLang="en-US" sz="1700" dirty="0">
              <a:latin typeface="+mn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+mn-lt"/>
              </a:rPr>
              <a:t>Covers </a:t>
            </a:r>
            <a:r>
              <a:rPr lang="en-US" altLang="en-US" sz="1700" b="1" dirty="0">
                <a:latin typeface="+mn-lt"/>
              </a:rPr>
              <a:t>all</a:t>
            </a:r>
            <a:r>
              <a:rPr lang="en-US" altLang="en-US" sz="1700" dirty="0">
                <a:latin typeface="+mn-lt"/>
              </a:rPr>
              <a:t> hotels in Portugal 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en-US" sz="1700" u="sng" dirty="0" err="1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Devesa</a:t>
            </a:r>
            <a:r>
              <a:rPr lang="en-US" altLang="en-US" sz="1700" u="sng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latin typeface="+mn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Peñalver, 2013)</a:t>
            </a:r>
            <a:r>
              <a:rPr lang="en-US" altLang="en-US" sz="1700" dirty="0">
                <a:latin typeface="+mn-l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+mn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125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A3BD-93F6-B0D4-8364-8D22BC05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7012D9-F3D6-1671-C698-4F40F6D3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96" y="2884861"/>
            <a:ext cx="7876203" cy="979091"/>
          </a:xfrm>
        </p:spPr>
        <p:txBody>
          <a:bodyPr/>
          <a:lstStyle/>
          <a:p>
            <a:r>
              <a:rPr lang="pt-PT" dirty="0"/>
              <a:t>Data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Methodology</a:t>
            </a:r>
            <a:endParaRPr lang="pt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AE3FCD-0961-EB97-D47F-06B8082845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Data and Variables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CFF9863-C401-B370-A9ED-B1AFE4D181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b="0" dirty="0"/>
              <a:t>03.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5E2C99-BD53-6743-CE8B-A9F0E3833A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69C58764-6843-7D12-8BE9-4E589A97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r>
              <a:rPr lang="en-US" dirty="0"/>
              <a:t>0</a:t>
            </a:r>
            <a:fld id="{F5D87A1C-04A5-464D-9747-6D64679AA987}" type="slidenum">
              <a:rPr lang="en-PT" smtClean="0"/>
              <a:pPr/>
              <a:t>7</a:t>
            </a:fld>
            <a:endParaRPr lang="en-PT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65174B-5BBD-8F33-475F-6ADDA57884D5}"/>
              </a:ext>
            </a:extLst>
          </p:cNvPr>
          <p:cNvSpPr/>
          <p:nvPr/>
        </p:nvSpPr>
        <p:spPr>
          <a:xfrm>
            <a:off x="3985897" y="4362983"/>
            <a:ext cx="55753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1809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61E9-0CFD-5E62-D262-FADB7F49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BA58E89-4C17-8ECB-5B3B-2C55B11E2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187" y="370467"/>
            <a:ext cx="11385549" cy="481012"/>
          </a:xfrm>
        </p:spPr>
        <p:txBody>
          <a:bodyPr/>
          <a:lstStyle/>
          <a:p>
            <a:r>
              <a:rPr lang="pt-PT" dirty="0"/>
              <a:t>Data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Methodology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D9833-FDE9-FD20-939A-9A2A428B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0</a:t>
            </a:r>
            <a:fld id="{A0D66464-C8A0-4770-B432-C3F136AF0291}" type="slidenum">
              <a:rPr lang="pt-PT" smtClean="0"/>
              <a:pPr/>
              <a:t>8</a:t>
            </a:fld>
            <a:endParaRPr lang="pt-PT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E8E0A6-AABF-857C-9F6C-8F7636B25915}"/>
              </a:ext>
            </a:extLst>
          </p:cNvPr>
          <p:cNvCxnSpPr>
            <a:cxnSpLocks/>
          </p:cNvCxnSpPr>
          <p:nvPr/>
        </p:nvCxnSpPr>
        <p:spPr>
          <a:xfrm>
            <a:off x="3039903" y="2871841"/>
            <a:ext cx="0" cy="0"/>
          </a:xfrm>
          <a:prstGeom prst="line">
            <a:avLst/>
          </a:prstGeom>
          <a:ln>
            <a:solidFill>
              <a:srgbClr val="BFD7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2B0763C0-BDE1-E1B8-26B4-7AC516C61668}"/>
              </a:ext>
            </a:extLst>
          </p:cNvPr>
          <p:cNvSpPr txBox="1">
            <a:spLocks/>
          </p:cNvSpPr>
          <p:nvPr/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2ACAC3-0DAC-BF71-91CF-BBB723F49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132102"/>
              </p:ext>
            </p:extLst>
          </p:nvPr>
        </p:nvGraphicFramePr>
        <p:xfrm>
          <a:off x="416830" y="2417997"/>
          <a:ext cx="5330829" cy="265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9267">
                  <a:extLst>
                    <a:ext uri="{9D8B030D-6E8A-4147-A177-3AD203B41FA5}">
                      <a16:colId xmlns:a16="http://schemas.microsoft.com/office/drawing/2014/main" val="4164040915"/>
                    </a:ext>
                  </a:extLst>
                </a:gridCol>
                <a:gridCol w="1391989">
                  <a:extLst>
                    <a:ext uri="{9D8B030D-6E8A-4147-A177-3AD203B41FA5}">
                      <a16:colId xmlns:a16="http://schemas.microsoft.com/office/drawing/2014/main" val="1421660825"/>
                    </a:ext>
                  </a:extLst>
                </a:gridCol>
                <a:gridCol w="2599573">
                  <a:extLst>
                    <a:ext uri="{9D8B030D-6E8A-4147-A177-3AD203B41FA5}">
                      <a16:colId xmlns:a16="http://schemas.microsoft.com/office/drawing/2014/main" val="38814943"/>
                    </a:ext>
                  </a:extLst>
                </a:gridCol>
              </a:tblGrid>
              <a:tr h="287107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800" b="1" u="none" strike="noStrike" dirty="0">
                          <a:effectLst/>
                        </a:rPr>
                        <a:t>Stata Variables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800" b="1" u="none" strike="noStrike" dirty="0">
                          <a:effectLst/>
                        </a:rPr>
                        <a:t>Dataset and Variables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Definition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57033"/>
                  </a:ext>
                </a:extLst>
              </a:tr>
              <a:tr h="42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 err="1">
                          <a:effectLst/>
                        </a:rPr>
                        <a:t>ht_room_ocup_sea_nutsii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 room occupancy rate variance NUTS II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Hotels' variance monthly room occupancy rate within each NUTS II region.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244149"/>
                  </a:ext>
                </a:extLst>
              </a:tr>
              <a:tr h="42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ht_room_ocup_sea_nutsiii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 room occupancy rate variance NUTS III 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Hotels' variance monthly room occupancy rate within each NUTS III region.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986600"/>
                  </a:ext>
                </a:extLst>
              </a:tr>
              <a:tr h="42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ht_room_ocup_nutsii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 room occupancy rate average NUTS II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Hotels' average monthly room occupancy rate within each NUTS II region.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574854"/>
                  </a:ext>
                </a:extLst>
              </a:tr>
              <a:tr h="42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ht_room_ocup_nutsiii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 room occupancy rate average NUTS III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Hotels' average monthly room occupancy rate within each NUTS III region.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3676"/>
                  </a:ext>
                </a:extLst>
              </a:tr>
              <a:tr h="3261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 err="1">
                          <a:effectLst/>
                        </a:rPr>
                        <a:t>ht_events_meetings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events meeting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number of meeting rooms capacity.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876200"/>
                  </a:ext>
                </a:extLst>
              </a:tr>
              <a:tr h="339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 err="1">
                          <a:effectLst/>
                        </a:rPr>
                        <a:t>ht_quality_stars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quality stars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stars classification (1, 2, 3, 4, 5).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57" marR="7157" marT="715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200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81B31F-4928-8E2E-7F89-427B60C8251A}"/>
              </a:ext>
            </a:extLst>
          </p:cNvPr>
          <p:cNvSpPr txBox="1"/>
          <p:nvPr/>
        </p:nvSpPr>
        <p:spPr>
          <a:xfrm>
            <a:off x="304604" y="747925"/>
            <a:ext cx="9752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i="1" dirty="0">
                <a:solidFill>
                  <a:srgbClr val="5C666C"/>
                </a:solidFill>
              </a:rPr>
              <a:t>Hotel &amp; Financial Variables – Turismo de Portugal &amp; Orbis Data </a:t>
            </a:r>
            <a:r>
              <a:rPr lang="en-US" b="1" i="1" dirty="0">
                <a:solidFill>
                  <a:srgbClr val="5C666C"/>
                </a:solidFill>
              </a:rPr>
              <a:t>(2010-2015)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9D723D-A05E-2A8C-B57A-4EF0AC160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495717"/>
              </p:ext>
            </p:extLst>
          </p:nvPr>
        </p:nvGraphicFramePr>
        <p:xfrm>
          <a:off x="5942246" y="1786890"/>
          <a:ext cx="5632152" cy="3284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5854">
                  <a:extLst>
                    <a:ext uri="{9D8B030D-6E8A-4147-A177-3AD203B41FA5}">
                      <a16:colId xmlns:a16="http://schemas.microsoft.com/office/drawing/2014/main" val="3834217017"/>
                    </a:ext>
                  </a:extLst>
                </a:gridCol>
                <a:gridCol w="1421460">
                  <a:extLst>
                    <a:ext uri="{9D8B030D-6E8A-4147-A177-3AD203B41FA5}">
                      <a16:colId xmlns:a16="http://schemas.microsoft.com/office/drawing/2014/main" val="3050601367"/>
                    </a:ext>
                  </a:extLst>
                </a:gridCol>
                <a:gridCol w="2614838">
                  <a:extLst>
                    <a:ext uri="{9D8B030D-6E8A-4147-A177-3AD203B41FA5}">
                      <a16:colId xmlns:a16="http://schemas.microsoft.com/office/drawing/2014/main" val="1176071383"/>
                    </a:ext>
                  </a:extLst>
                </a:gridCol>
              </a:tblGrid>
              <a:tr h="124234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800" b="1" u="none" strike="noStrike" dirty="0">
                          <a:effectLst/>
                        </a:rPr>
                        <a:t>Stata Variables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Dataset and Variables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800" b="1" u="none" strike="noStrike" dirty="0">
                          <a:effectLst/>
                        </a:rPr>
                        <a:t>Definition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302816"/>
                  </a:ext>
                </a:extLst>
              </a:tr>
              <a:tr h="6528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 err="1">
                          <a:effectLst/>
                        </a:rPr>
                        <a:t>f_zscore_w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Z-score </a:t>
                      </a:r>
                      <a:r>
                        <a:rPr lang="en-US" sz="800" u="none" strike="noStrike" dirty="0" err="1">
                          <a:effectLst/>
                        </a:rPr>
                        <a:t>Winsorized</a:t>
                      </a:r>
                      <a:r>
                        <a:rPr lang="en-US" sz="800" u="none" strike="noStrike" dirty="0">
                          <a:effectLst/>
                        </a:rPr>
                        <a:t> at significance level 5%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Z-Score </a:t>
                      </a:r>
                      <a:r>
                        <a:rPr lang="en-US" sz="800" u="none" strike="noStrike" dirty="0" err="1">
                          <a:effectLst/>
                        </a:rPr>
                        <a:t>Winsorized</a:t>
                      </a:r>
                      <a:r>
                        <a:rPr lang="en-US" sz="800" u="none" strike="noStrike" dirty="0">
                          <a:effectLst/>
                        </a:rPr>
                        <a:t> at significance level 5% identifies which hotels with elevated risks of financial distress - (Return on Average Assets </a:t>
                      </a:r>
                      <a:r>
                        <a:rPr lang="en-US" sz="800" u="none" strike="noStrike" dirty="0" err="1">
                          <a:effectLst/>
                        </a:rPr>
                        <a:t>Winsorized</a:t>
                      </a:r>
                      <a:r>
                        <a:rPr lang="en-US" sz="800" u="none" strike="noStrike" dirty="0">
                          <a:effectLst/>
                        </a:rPr>
                        <a:t> at significance level 5% + Capital Ratio </a:t>
                      </a:r>
                      <a:r>
                        <a:rPr lang="en-US" sz="800" u="none" strike="noStrike" dirty="0" err="1">
                          <a:effectLst/>
                        </a:rPr>
                        <a:t>Winsorized</a:t>
                      </a:r>
                      <a:r>
                        <a:rPr lang="en-US" sz="800" u="none" strike="noStrike" dirty="0">
                          <a:effectLst/>
                        </a:rPr>
                        <a:t> at significance level 5%) / (Return on Average Assets Standard Deviation </a:t>
                      </a:r>
                      <a:r>
                        <a:rPr lang="en-US" sz="800" u="none" strike="noStrike" dirty="0" err="1">
                          <a:effectLst/>
                        </a:rPr>
                        <a:t>Winsorized</a:t>
                      </a:r>
                      <a:r>
                        <a:rPr lang="en-US" sz="800" u="none" strike="noStrike" dirty="0">
                          <a:effectLst/>
                        </a:rPr>
                        <a:t> at significance level 5%).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27475"/>
                  </a:ext>
                </a:extLst>
              </a:tr>
              <a:tr h="3306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 err="1">
                          <a:effectLst/>
                        </a:rPr>
                        <a:t>f_ln_total_assets_w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natural logarithm of total assets </a:t>
                      </a:r>
                      <a:r>
                        <a:rPr lang="en-US" sz="800" u="none" strike="noStrike" dirty="0" err="1">
                          <a:effectLst/>
                        </a:rPr>
                        <a:t>Winsorized</a:t>
                      </a:r>
                      <a:r>
                        <a:rPr lang="en-US" sz="800" u="none" strike="noStrike" dirty="0">
                          <a:effectLst/>
                        </a:rPr>
                        <a:t> at significance level 5%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</a:t>
                      </a:r>
                      <a:r>
                        <a:rPr lang="en-US" sz="800" u="none" strike="noStrike" dirty="0" err="1">
                          <a:effectLst/>
                        </a:rPr>
                        <a:t>Winsorized</a:t>
                      </a:r>
                      <a:r>
                        <a:rPr lang="en-US" sz="800" u="none" strike="noStrike" dirty="0">
                          <a:effectLst/>
                        </a:rPr>
                        <a:t> at significance level 5% logarithm total owned resources (Fixed Assets + Current Assets).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384746"/>
                  </a:ext>
                </a:extLst>
              </a:tr>
              <a:tr h="22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b="1" u="none" strike="noStrike">
                          <a:effectLst/>
                        </a:rPr>
                        <a:t>f_liquidity_r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u="none" strike="noStrike">
                          <a:effectLst/>
                        </a:rPr>
                        <a:t>Hotels liquidity ratio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ratio of current assets excluding stocks to current liabilities.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703593"/>
                  </a:ext>
                </a:extLst>
              </a:tr>
              <a:tr h="1183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b="1" u="none" strike="noStrike">
                          <a:effectLst/>
                        </a:rPr>
                        <a:t>f_debt_r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u="none" strike="noStrike">
                          <a:effectLst/>
                        </a:rPr>
                        <a:t>Hotels debt ratio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ratio of total liabilities to shareholders equity.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421599"/>
                  </a:ext>
                </a:extLst>
              </a:tr>
              <a:tr h="1183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b="1" u="none" strike="noStrike">
                          <a:effectLst/>
                        </a:rPr>
                        <a:t>f_efficiency_r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u="none" strike="noStrike">
                          <a:effectLst/>
                        </a:rPr>
                        <a:t>Hotels efficiency ratio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ratio of income to total assets for each hotel.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696501"/>
                  </a:ext>
                </a:extLst>
              </a:tr>
              <a:tr h="22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f_profit_r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profit ratio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ratio of earnings before interest and taxes to revenue.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175886"/>
                  </a:ext>
                </a:extLst>
              </a:tr>
              <a:tr h="22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b="1" u="none" strike="noStrike" dirty="0" err="1">
                          <a:effectLst/>
                        </a:rPr>
                        <a:t>f_growth_r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PT" sz="800" u="none" strike="noStrike">
                          <a:effectLst/>
                        </a:rPr>
                        <a:t>Hotels growth ratio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ratio of revenue in period t to hotel revenue in period t–1.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518922"/>
                  </a:ext>
                </a:extLst>
              </a:tr>
              <a:tr h="22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f_mkt_share_conc_nutsiii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market share concentration NUTS III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Sum of squared market shares of all hotels within each NUTS III region.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41425"/>
                  </a:ext>
                </a:extLst>
              </a:tr>
              <a:tr h="22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f_mkt_share_conc_nutsii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market share concentration NUTS II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Sum of squared market shares of all hotels within each NUTS II region.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603876"/>
                  </a:ext>
                </a:extLst>
              </a:tr>
              <a:tr h="22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 err="1">
                          <a:effectLst/>
                        </a:rPr>
                        <a:t>f_mkt_share_nutsii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market share NUTS II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Hotels ratio of each hotel's revenue to the total hotel revenues within the corresponding NUTS II region.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2935"/>
                  </a:ext>
                </a:extLst>
              </a:tr>
              <a:tr h="22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 err="1">
                          <a:effectLst/>
                        </a:rPr>
                        <a:t>f_mkt_share_nutsiii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market share NUTS III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Hotels ratio of each hotel's revenue to the total hotel revenues within the corresponding NUTS III region.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9108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0443784-F44F-535E-EB75-087702412DC4}"/>
              </a:ext>
            </a:extLst>
          </p:cNvPr>
          <p:cNvSpPr txBox="1"/>
          <p:nvPr/>
        </p:nvSpPr>
        <p:spPr>
          <a:xfrm>
            <a:off x="256263" y="5094990"/>
            <a:ext cx="5491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Table 1: </a:t>
            </a:r>
            <a:r>
              <a:rPr lang="en-US" sz="800" dirty="0"/>
              <a:t>Definitions of Variables Related to Hotel Occupancy and Characteristics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B2854-AACF-9434-62D4-F1BAC88DD6B8}"/>
              </a:ext>
            </a:extLst>
          </p:cNvPr>
          <p:cNvSpPr txBox="1"/>
          <p:nvPr/>
        </p:nvSpPr>
        <p:spPr>
          <a:xfrm>
            <a:off x="6233547" y="5094990"/>
            <a:ext cx="5491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Table 2: </a:t>
            </a:r>
            <a:r>
              <a:rPr lang="en-US" sz="800" dirty="0"/>
              <a:t>Definitions of Variables Related to Hotel Financial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A205F-EE0D-152D-96AD-280E6B13E395}"/>
              </a:ext>
            </a:extLst>
          </p:cNvPr>
          <p:cNvSpPr txBox="1"/>
          <p:nvPr/>
        </p:nvSpPr>
        <p:spPr>
          <a:xfrm>
            <a:off x="172594" y="5565453"/>
            <a:ext cx="11401804" cy="75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The </a:t>
            </a:r>
            <a:r>
              <a:rPr lang="en-US" sz="1000" b="1" dirty="0"/>
              <a:t>Z-score</a:t>
            </a:r>
            <a:r>
              <a:rPr lang="en-US" sz="1000" dirty="0"/>
              <a:t>, which serves as the dependent variable, measures financial stability using panel data. It reflects multiple </a:t>
            </a:r>
            <a:r>
              <a:rPr lang="en-US" sz="1000" b="1" dirty="0"/>
              <a:t>hotel characteristics observed over a five-year period</a:t>
            </a:r>
            <a:r>
              <a:rPr lang="en-US" sz="1000" dirty="0"/>
              <a:t>. To account for potential </a:t>
            </a:r>
            <a:r>
              <a:rPr lang="en-US" sz="1000" b="1" dirty="0"/>
              <a:t>endogeneity and dynamic relationships</a:t>
            </a:r>
            <a:r>
              <a:rPr lang="en-US" sz="1000" dirty="0"/>
              <a:t>, the one-step </a:t>
            </a:r>
            <a:r>
              <a:rPr lang="en-US" sz="1000" b="1" dirty="0"/>
              <a:t>System Generalized Method of Moments (System GMM) </a:t>
            </a:r>
            <a:r>
              <a:rPr lang="en-US" sz="1000" dirty="0"/>
              <a:t>is applied (we use this methodology, as </a:t>
            </a:r>
            <a:r>
              <a:rPr lang="en-US" sz="1000" dirty="0">
                <a:solidFill>
                  <a:srgbClr val="5C666C"/>
                </a:solidFill>
              </a:rPr>
              <a:t>in </a:t>
            </a:r>
            <a:r>
              <a:rPr lang="en-US" sz="1000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Lado-</a:t>
            </a:r>
            <a:r>
              <a:rPr lang="en-US" sz="1000" dirty="0" err="1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Sestayo</a:t>
            </a:r>
            <a:r>
              <a:rPr lang="en-US" sz="1000" dirty="0">
                <a:solidFill>
                  <a:srgbClr val="5C666C"/>
                </a:solidFill>
                <a:uFill>
                  <a:solidFill>
                    <a:schemeClr val="bg1"/>
                  </a:solidFill>
                </a:u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al., 2016</a:t>
            </a:r>
            <a:r>
              <a:rPr lang="en-US" sz="1000" dirty="0"/>
              <a:t>). Model validity is evaluated through the Arellano–Bond tests for first- and second-order autocorrelation, </a:t>
            </a:r>
            <a:r>
              <a:rPr lang="en-US" sz="1000" b="1" dirty="0"/>
              <a:t>AR(1) and AR(2).</a:t>
            </a:r>
            <a:endParaRPr lang="en-US" altLang="en-US" sz="1000" b="1" dirty="0">
              <a:cs typeface="Circular Std Book" panose="020B0604020101020102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2D95A-2885-7411-A8A0-E83F73D9C887}"/>
              </a:ext>
            </a:extLst>
          </p:cNvPr>
          <p:cNvSpPr txBox="1"/>
          <p:nvPr/>
        </p:nvSpPr>
        <p:spPr>
          <a:xfrm>
            <a:off x="333187" y="5304870"/>
            <a:ext cx="5216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b="1" dirty="0">
                <a:solidFill>
                  <a:srgbClr val="5C666C"/>
                </a:solidFill>
              </a:rPr>
              <a:t>Methodology</a:t>
            </a:r>
            <a:endParaRPr lang="en-US" sz="1600" dirty="0"/>
          </a:p>
        </p:txBody>
      </p:sp>
      <p:sp>
        <p:nvSpPr>
          <p:cNvPr id="17" name="TextBox 178">
            <a:extLst>
              <a:ext uri="{FF2B5EF4-FFF2-40B4-BE49-F238E27FC236}">
                <a16:creationId xmlns:a16="http://schemas.microsoft.com/office/drawing/2014/main" id="{D4DD82D1-88DD-1733-48EC-621E5E1D6D91}"/>
              </a:ext>
            </a:extLst>
          </p:cNvPr>
          <p:cNvSpPr txBox="1"/>
          <p:nvPr/>
        </p:nvSpPr>
        <p:spPr>
          <a:xfrm>
            <a:off x="243652" y="1603031"/>
            <a:ext cx="2042441" cy="7203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/>
              <a:t>Z-Score: </a:t>
            </a:r>
            <a:r>
              <a:rPr lang="en-US" sz="1400" i="1" u="sng" dirty="0"/>
              <a:t>u + k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/>
              <a:t>              </a:t>
            </a:r>
            <a:r>
              <a:rPr lang="pt-PT" sz="1400" i="1" dirty="0"/>
              <a:t>σ</a:t>
            </a:r>
          </a:p>
        </p:txBody>
      </p:sp>
      <p:sp>
        <p:nvSpPr>
          <p:cNvPr id="18" name="TextBox 184">
            <a:extLst>
              <a:ext uri="{FF2B5EF4-FFF2-40B4-BE49-F238E27FC236}">
                <a16:creationId xmlns:a16="http://schemas.microsoft.com/office/drawing/2014/main" id="{13FD3EA8-8CDC-75C6-6AFE-3686317483C3}"/>
              </a:ext>
            </a:extLst>
          </p:cNvPr>
          <p:cNvSpPr txBox="1"/>
          <p:nvPr/>
        </p:nvSpPr>
        <p:spPr>
          <a:xfrm>
            <a:off x="1816189" y="1383853"/>
            <a:ext cx="3891543" cy="8976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900" b="1" dirty="0">
                <a:cs typeface="Circular Std Book" panose="020B0604020101020102" pitchFamily="34" charset="0"/>
              </a:rPr>
              <a:t>ROAA (u)</a:t>
            </a:r>
            <a:r>
              <a:rPr lang="en-US" sz="900" dirty="0">
                <a:cs typeface="Circular Std Book" panose="020B0604020101020102" pitchFamily="34" charset="0"/>
              </a:rPr>
              <a:t> = Net Income / Average Total Assets (divided by 2 only if both years' data was available; otherwise, current year used alone).</a:t>
            </a:r>
          </a:p>
          <a:p>
            <a:pPr algn="just">
              <a:lnSpc>
                <a:spcPct val="150000"/>
              </a:lnSpc>
            </a:pPr>
            <a:r>
              <a:rPr lang="en-US" sz="900" b="1" dirty="0">
                <a:cs typeface="Circular Std Book" panose="020B0604020101020102" pitchFamily="34" charset="0"/>
              </a:rPr>
              <a:t>Capital ratio (k)</a:t>
            </a:r>
            <a:r>
              <a:rPr lang="en-US" sz="900" dirty="0">
                <a:cs typeface="Circular Std Book" panose="020B0604020101020102" pitchFamily="34" charset="0"/>
              </a:rPr>
              <a:t> was computed as Capital divided by Total Assets.</a:t>
            </a:r>
            <a:endParaRPr lang="en-US" sz="900" b="1" dirty="0">
              <a:cs typeface="Circular Std Book" panose="020B0604020101020102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900" b="1" dirty="0">
                <a:cs typeface="Circular Std Book" panose="020B0604020101020102" pitchFamily="34" charset="0"/>
              </a:rPr>
              <a:t>ROAA volatility (</a:t>
            </a:r>
            <a:r>
              <a:rPr lang="pt-PT" sz="900" i="1" dirty="0"/>
              <a:t>σ)</a:t>
            </a:r>
            <a:r>
              <a:rPr lang="en-US" sz="900" dirty="0">
                <a:cs typeface="Circular Std Book" panose="020B0604020101020102" pitchFamily="34" charset="0"/>
              </a:rPr>
              <a:t> is the standard deviation of ROAA across hotels.</a:t>
            </a:r>
          </a:p>
        </p:txBody>
      </p:sp>
      <p:sp>
        <p:nvSpPr>
          <p:cNvPr id="19" name="TextBox 185">
            <a:extLst>
              <a:ext uri="{FF2B5EF4-FFF2-40B4-BE49-F238E27FC236}">
                <a16:creationId xmlns:a16="http://schemas.microsoft.com/office/drawing/2014/main" id="{0A90C2F4-7513-C46D-745D-43FD4FBBEC21}"/>
              </a:ext>
            </a:extLst>
          </p:cNvPr>
          <p:cNvSpPr txBox="1"/>
          <p:nvPr/>
        </p:nvSpPr>
        <p:spPr>
          <a:xfrm>
            <a:off x="70090" y="1355582"/>
            <a:ext cx="17460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000" dirty="0">
                <a:solidFill>
                  <a:srgbClr val="5C666C"/>
                </a:solidFill>
              </a:rPr>
              <a:t>(Vivel-</a:t>
            </a:r>
            <a:r>
              <a:rPr lang="en-US" altLang="en-US" sz="1000" dirty="0" err="1">
                <a:solidFill>
                  <a:srgbClr val="5C666C"/>
                </a:solidFill>
              </a:rPr>
              <a:t>Búa</a:t>
            </a:r>
            <a:r>
              <a:rPr lang="en-US" altLang="en-US" sz="1000" dirty="0">
                <a:solidFill>
                  <a:srgbClr val="5C666C"/>
                </a:solidFill>
              </a:rPr>
              <a:t> et al., 2018)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9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6A1A-DD0E-056B-EA57-977E19D2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E004A98-8F6D-A6D1-C832-9816A4C3F3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Data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Methodology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AD007-FFC0-32C3-1361-19FAC52E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0</a:t>
            </a:r>
            <a:fld id="{A0D66464-C8A0-4770-B432-C3F136AF0291}" type="slidenum">
              <a:rPr lang="pt-PT" smtClean="0"/>
              <a:pPr/>
              <a:t>9</a:t>
            </a:fld>
            <a:endParaRPr lang="pt-PT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014E12-8A12-38C9-9711-B522B3612209}"/>
              </a:ext>
            </a:extLst>
          </p:cNvPr>
          <p:cNvCxnSpPr>
            <a:cxnSpLocks/>
          </p:cNvCxnSpPr>
          <p:nvPr/>
        </p:nvCxnSpPr>
        <p:spPr>
          <a:xfrm>
            <a:off x="3039903" y="2871841"/>
            <a:ext cx="0" cy="0"/>
          </a:xfrm>
          <a:prstGeom prst="line">
            <a:avLst/>
          </a:prstGeom>
          <a:ln>
            <a:solidFill>
              <a:srgbClr val="BFD7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521A57A-9E2B-2E48-FD8B-DE6C5348C65A}"/>
              </a:ext>
            </a:extLst>
          </p:cNvPr>
          <p:cNvSpPr txBox="1"/>
          <p:nvPr/>
        </p:nvSpPr>
        <p:spPr>
          <a:xfrm>
            <a:off x="381000" y="1112254"/>
            <a:ext cx="580258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i="1" dirty="0">
                <a:solidFill>
                  <a:srgbClr val="5C666C"/>
                </a:solidFill>
              </a:rPr>
              <a:t>Euclidean Distances – Visit Portugal Data</a:t>
            </a:r>
          </a:p>
        </p:txBody>
      </p:sp>
      <p:sp>
        <p:nvSpPr>
          <p:cNvPr id="18" name="Text Placeholder 27">
            <a:extLst>
              <a:ext uri="{FF2B5EF4-FFF2-40B4-BE49-F238E27FC236}">
                <a16:creationId xmlns:a16="http://schemas.microsoft.com/office/drawing/2014/main" id="{00CEECC0-81D3-C361-D97E-6A9C689DA395}"/>
              </a:ext>
            </a:extLst>
          </p:cNvPr>
          <p:cNvSpPr txBox="1">
            <a:spLocks/>
          </p:cNvSpPr>
          <p:nvPr/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grpSp>
        <p:nvGrpSpPr>
          <p:cNvPr id="11" name="Google Shape;62;p14">
            <a:extLst>
              <a:ext uri="{FF2B5EF4-FFF2-40B4-BE49-F238E27FC236}">
                <a16:creationId xmlns:a16="http://schemas.microsoft.com/office/drawing/2014/main" id="{A1067B8B-3A0F-81A9-2248-067ED9695B38}"/>
              </a:ext>
            </a:extLst>
          </p:cNvPr>
          <p:cNvGrpSpPr/>
          <p:nvPr/>
        </p:nvGrpSpPr>
        <p:grpSpPr>
          <a:xfrm>
            <a:off x="2517452" y="1685261"/>
            <a:ext cx="8769246" cy="4152480"/>
            <a:chOff x="2173388" y="1689083"/>
            <a:chExt cx="4498737" cy="2704411"/>
          </a:xfrm>
        </p:grpSpPr>
        <p:sp>
          <p:nvSpPr>
            <p:cNvPr id="16" name="Google Shape;63;p14">
              <a:extLst>
                <a:ext uri="{FF2B5EF4-FFF2-40B4-BE49-F238E27FC236}">
                  <a16:creationId xmlns:a16="http://schemas.microsoft.com/office/drawing/2014/main" id="{9278EFCD-8454-5FC1-FB80-A3F8D4A48AB3}"/>
                </a:ext>
              </a:extLst>
            </p:cNvPr>
            <p:cNvSpPr/>
            <p:nvPr/>
          </p:nvSpPr>
          <p:spPr>
            <a:xfrm>
              <a:off x="3155886" y="3166750"/>
              <a:ext cx="1031400" cy="267300"/>
            </a:xfrm>
            <a:prstGeom prst="roundRect">
              <a:avLst>
                <a:gd name="adj" fmla="val 16667"/>
              </a:avLst>
            </a:prstGeom>
            <a:solidFill>
              <a:srgbClr val="B7B7B7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325" tIns="83325" rIns="83325" bIns="83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PT" sz="1002">
                  <a:solidFill>
                    <a:schemeClr val="lt1"/>
                  </a:solidFill>
                </a:rPr>
                <a:t>church</a:t>
              </a:r>
              <a:endParaRPr sz="1002">
                <a:solidFill>
                  <a:srgbClr val="FFFFFF"/>
                </a:solidFill>
              </a:endParaRPr>
            </a:p>
          </p:txBody>
        </p:sp>
        <p:sp>
          <p:nvSpPr>
            <p:cNvPr id="17" name="Google Shape;64;p14">
              <a:extLst>
                <a:ext uri="{FF2B5EF4-FFF2-40B4-BE49-F238E27FC236}">
                  <a16:creationId xmlns:a16="http://schemas.microsoft.com/office/drawing/2014/main" id="{D04E144B-CB3E-5DCC-F72D-BFFA469FFCC9}"/>
                </a:ext>
              </a:extLst>
            </p:cNvPr>
            <p:cNvSpPr/>
            <p:nvPr/>
          </p:nvSpPr>
          <p:spPr>
            <a:xfrm>
              <a:off x="4599374" y="2308835"/>
              <a:ext cx="358200" cy="448500"/>
            </a:xfrm>
            <a:prstGeom prst="roundRect">
              <a:avLst>
                <a:gd name="adj" fmla="val 16667"/>
              </a:avLst>
            </a:prstGeom>
            <a:solidFill>
              <a:srgbClr val="666666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025" tIns="78025" rIns="78025" bIns="78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38">
                  <a:solidFill>
                    <a:srgbClr val="FFFFFF"/>
                  </a:solidFill>
                </a:rPr>
                <a:t>2</a:t>
              </a:r>
              <a:endParaRPr sz="938">
                <a:solidFill>
                  <a:srgbClr val="FFFFFF"/>
                </a:solidFill>
              </a:endParaRPr>
            </a:p>
          </p:txBody>
        </p:sp>
        <p:sp>
          <p:nvSpPr>
            <p:cNvPr id="19" name="Google Shape;65;p14">
              <a:extLst>
                <a:ext uri="{FF2B5EF4-FFF2-40B4-BE49-F238E27FC236}">
                  <a16:creationId xmlns:a16="http://schemas.microsoft.com/office/drawing/2014/main" id="{918071AF-2A53-2893-5225-E8E638960086}"/>
                </a:ext>
              </a:extLst>
            </p:cNvPr>
            <p:cNvSpPr/>
            <p:nvPr/>
          </p:nvSpPr>
          <p:spPr>
            <a:xfrm>
              <a:off x="4599374" y="2863994"/>
              <a:ext cx="358200" cy="448500"/>
            </a:xfrm>
            <a:prstGeom prst="roundRect">
              <a:avLst>
                <a:gd name="adj" fmla="val 16667"/>
              </a:avLst>
            </a:prstGeom>
            <a:solidFill>
              <a:srgbClr val="666666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025" tIns="78025" rIns="78025" bIns="78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38" dirty="0">
                  <a:solidFill>
                    <a:srgbClr val="FFFFFF"/>
                  </a:solidFill>
                </a:rPr>
                <a:t>  3</a:t>
              </a:r>
              <a:endParaRPr sz="938" dirty="0">
                <a:solidFill>
                  <a:srgbClr val="FFFFFF"/>
                </a:solidFill>
              </a:endParaRPr>
            </a:p>
          </p:txBody>
        </p:sp>
        <p:sp>
          <p:nvSpPr>
            <p:cNvPr id="20" name="Google Shape;66;p14">
              <a:extLst>
                <a:ext uri="{FF2B5EF4-FFF2-40B4-BE49-F238E27FC236}">
                  <a16:creationId xmlns:a16="http://schemas.microsoft.com/office/drawing/2014/main" id="{A52DB32C-9D68-7D83-A09E-3C703A92CEB2}"/>
                </a:ext>
              </a:extLst>
            </p:cNvPr>
            <p:cNvSpPr/>
            <p:nvPr/>
          </p:nvSpPr>
          <p:spPr>
            <a:xfrm>
              <a:off x="4599374" y="3404501"/>
              <a:ext cx="358200" cy="448500"/>
            </a:xfrm>
            <a:prstGeom prst="roundRect">
              <a:avLst>
                <a:gd name="adj" fmla="val 16667"/>
              </a:avLst>
            </a:prstGeom>
            <a:solidFill>
              <a:srgbClr val="666666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025" tIns="78025" rIns="78025" bIns="78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38">
                  <a:solidFill>
                    <a:srgbClr val="FFFFFF"/>
                  </a:solidFill>
                </a:rPr>
                <a:t>4</a:t>
              </a:r>
              <a:endParaRPr sz="938">
                <a:solidFill>
                  <a:srgbClr val="FFFFFF"/>
                </a:solidFill>
              </a:endParaRPr>
            </a:p>
          </p:txBody>
        </p:sp>
        <p:cxnSp>
          <p:nvCxnSpPr>
            <p:cNvPr id="21" name="Google Shape;67;p14">
              <a:extLst>
                <a:ext uri="{FF2B5EF4-FFF2-40B4-BE49-F238E27FC236}">
                  <a16:creationId xmlns:a16="http://schemas.microsoft.com/office/drawing/2014/main" id="{00152E52-9FC8-C331-6345-828E2C8A37D5}"/>
                </a:ext>
              </a:extLst>
            </p:cNvPr>
            <p:cNvCxnSpPr/>
            <p:nvPr/>
          </p:nvCxnSpPr>
          <p:spPr>
            <a:xfrm>
              <a:off x="4452704" y="1883701"/>
              <a:ext cx="142500" cy="0"/>
            </a:xfrm>
            <a:prstGeom prst="straightConnector1">
              <a:avLst/>
            </a:prstGeom>
            <a:noFill/>
            <a:ln w="133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68;p14">
              <a:extLst>
                <a:ext uri="{FF2B5EF4-FFF2-40B4-BE49-F238E27FC236}">
                  <a16:creationId xmlns:a16="http://schemas.microsoft.com/office/drawing/2014/main" id="{0836897D-9320-0D04-3A50-B464493F1D3C}"/>
                </a:ext>
              </a:extLst>
            </p:cNvPr>
            <p:cNvCxnSpPr/>
            <p:nvPr/>
          </p:nvCxnSpPr>
          <p:spPr>
            <a:xfrm>
              <a:off x="4449429" y="2501102"/>
              <a:ext cx="142500" cy="0"/>
            </a:xfrm>
            <a:prstGeom prst="straightConnector1">
              <a:avLst/>
            </a:prstGeom>
            <a:noFill/>
            <a:ln w="133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69;p14">
              <a:extLst>
                <a:ext uri="{FF2B5EF4-FFF2-40B4-BE49-F238E27FC236}">
                  <a16:creationId xmlns:a16="http://schemas.microsoft.com/office/drawing/2014/main" id="{B49DA5BC-15A9-4350-AAD1-FF5AD39EF224}"/>
                </a:ext>
              </a:extLst>
            </p:cNvPr>
            <p:cNvCxnSpPr/>
            <p:nvPr/>
          </p:nvCxnSpPr>
          <p:spPr>
            <a:xfrm>
              <a:off x="4449429" y="3676020"/>
              <a:ext cx="142500" cy="0"/>
            </a:xfrm>
            <a:prstGeom prst="straightConnector1">
              <a:avLst/>
            </a:prstGeom>
            <a:noFill/>
            <a:ln w="133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70;p14">
              <a:extLst>
                <a:ext uri="{FF2B5EF4-FFF2-40B4-BE49-F238E27FC236}">
                  <a16:creationId xmlns:a16="http://schemas.microsoft.com/office/drawing/2014/main" id="{C131E094-0530-26E0-D808-5CC4175C85E1}"/>
                </a:ext>
              </a:extLst>
            </p:cNvPr>
            <p:cNvCxnSpPr>
              <a:stCxn id="19" idx="1"/>
            </p:cNvCxnSpPr>
            <p:nvPr/>
          </p:nvCxnSpPr>
          <p:spPr>
            <a:xfrm>
              <a:off x="4599374" y="3088244"/>
              <a:ext cx="0" cy="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71;p14">
              <a:extLst>
                <a:ext uri="{FF2B5EF4-FFF2-40B4-BE49-F238E27FC236}">
                  <a16:creationId xmlns:a16="http://schemas.microsoft.com/office/drawing/2014/main" id="{86275F16-E988-8062-2796-9B3400797FC0}"/>
                </a:ext>
              </a:extLst>
            </p:cNvPr>
            <p:cNvCxnSpPr>
              <a:stCxn id="19" idx="1"/>
            </p:cNvCxnSpPr>
            <p:nvPr/>
          </p:nvCxnSpPr>
          <p:spPr>
            <a:xfrm>
              <a:off x="4599374" y="3088244"/>
              <a:ext cx="0" cy="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72;p14">
              <a:extLst>
                <a:ext uri="{FF2B5EF4-FFF2-40B4-BE49-F238E27FC236}">
                  <a16:creationId xmlns:a16="http://schemas.microsoft.com/office/drawing/2014/main" id="{1CFECAC3-5019-FE2D-DC6E-8B667AEA4E8B}"/>
                </a:ext>
              </a:extLst>
            </p:cNvPr>
            <p:cNvCxnSpPr>
              <a:stCxn id="19" idx="1"/>
              <a:endCxn id="19" idx="1"/>
            </p:cNvCxnSpPr>
            <p:nvPr/>
          </p:nvCxnSpPr>
          <p:spPr>
            <a:xfrm>
              <a:off x="4599374" y="3088244"/>
              <a:ext cx="0" cy="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73;p14">
              <a:extLst>
                <a:ext uri="{FF2B5EF4-FFF2-40B4-BE49-F238E27FC236}">
                  <a16:creationId xmlns:a16="http://schemas.microsoft.com/office/drawing/2014/main" id="{A613817E-7363-55D8-F81C-322F1D93B0AF}"/>
                </a:ext>
              </a:extLst>
            </p:cNvPr>
            <p:cNvCxnSpPr>
              <a:stCxn id="19" idx="1"/>
            </p:cNvCxnSpPr>
            <p:nvPr/>
          </p:nvCxnSpPr>
          <p:spPr>
            <a:xfrm>
              <a:off x="4599374" y="3088244"/>
              <a:ext cx="0" cy="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74;p14">
              <a:extLst>
                <a:ext uri="{FF2B5EF4-FFF2-40B4-BE49-F238E27FC236}">
                  <a16:creationId xmlns:a16="http://schemas.microsoft.com/office/drawing/2014/main" id="{B61E853D-CAA6-F3BF-A757-592F7BF0F8C0}"/>
                </a:ext>
              </a:extLst>
            </p:cNvPr>
            <p:cNvCxnSpPr>
              <a:stCxn id="19" idx="1"/>
            </p:cNvCxnSpPr>
            <p:nvPr/>
          </p:nvCxnSpPr>
          <p:spPr>
            <a:xfrm>
              <a:off x="4599374" y="3088244"/>
              <a:ext cx="0" cy="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75;p14">
              <a:extLst>
                <a:ext uri="{FF2B5EF4-FFF2-40B4-BE49-F238E27FC236}">
                  <a16:creationId xmlns:a16="http://schemas.microsoft.com/office/drawing/2014/main" id="{03DE50E3-595A-53BC-DD5B-FAF592EA434F}"/>
                </a:ext>
              </a:extLst>
            </p:cNvPr>
            <p:cNvCxnSpPr/>
            <p:nvPr/>
          </p:nvCxnSpPr>
          <p:spPr>
            <a:xfrm>
              <a:off x="4453509" y="3093563"/>
              <a:ext cx="143700" cy="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76;p14">
              <a:extLst>
                <a:ext uri="{FF2B5EF4-FFF2-40B4-BE49-F238E27FC236}">
                  <a16:creationId xmlns:a16="http://schemas.microsoft.com/office/drawing/2014/main" id="{CB5D034E-B3F0-AEE7-E229-583B0CDFA3E3}"/>
                </a:ext>
              </a:extLst>
            </p:cNvPr>
            <p:cNvCxnSpPr>
              <a:stCxn id="16" idx="1"/>
              <a:endCxn id="16" idx="1"/>
            </p:cNvCxnSpPr>
            <p:nvPr/>
          </p:nvCxnSpPr>
          <p:spPr>
            <a:xfrm>
              <a:off x="3155886" y="3300400"/>
              <a:ext cx="0" cy="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" name="Google Shape;77;p14">
              <a:extLst>
                <a:ext uri="{FF2B5EF4-FFF2-40B4-BE49-F238E27FC236}">
                  <a16:creationId xmlns:a16="http://schemas.microsoft.com/office/drawing/2014/main" id="{14E06F1F-5AA3-99FB-7167-1F4362A7F830}"/>
                </a:ext>
              </a:extLst>
            </p:cNvPr>
            <p:cNvSpPr/>
            <p:nvPr/>
          </p:nvSpPr>
          <p:spPr>
            <a:xfrm>
              <a:off x="3277813" y="1779700"/>
              <a:ext cx="737700" cy="267300"/>
            </a:xfrm>
            <a:prstGeom prst="roundRect">
              <a:avLst>
                <a:gd name="adj" fmla="val 16667"/>
              </a:avLst>
            </a:prstGeom>
            <a:solidFill>
              <a:srgbClr val="B7B7B7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325" tIns="83325" rIns="83325" bIns="83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2">
                  <a:solidFill>
                    <a:srgbClr val="FFFFFF"/>
                  </a:solidFill>
                </a:rPr>
                <a:t>beach</a:t>
              </a:r>
              <a:endParaRPr sz="1002">
                <a:solidFill>
                  <a:srgbClr val="FFFFFF"/>
                </a:solidFill>
              </a:endParaRPr>
            </a:p>
          </p:txBody>
        </p:sp>
        <p:cxnSp>
          <p:nvCxnSpPr>
            <p:cNvPr id="33" name="Google Shape;78;p14">
              <a:extLst>
                <a:ext uri="{FF2B5EF4-FFF2-40B4-BE49-F238E27FC236}">
                  <a16:creationId xmlns:a16="http://schemas.microsoft.com/office/drawing/2014/main" id="{5C07F73C-271F-6B38-9CF1-4791B688881F}"/>
                </a:ext>
              </a:extLst>
            </p:cNvPr>
            <p:cNvCxnSpPr>
              <a:endCxn id="16" idx="1"/>
            </p:cNvCxnSpPr>
            <p:nvPr/>
          </p:nvCxnSpPr>
          <p:spPr>
            <a:xfrm>
              <a:off x="2698686" y="3298300"/>
              <a:ext cx="457200" cy="2100"/>
            </a:xfrm>
            <a:prstGeom prst="straightConnector1">
              <a:avLst/>
            </a:prstGeom>
            <a:noFill/>
            <a:ln w="113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79;p14">
              <a:extLst>
                <a:ext uri="{FF2B5EF4-FFF2-40B4-BE49-F238E27FC236}">
                  <a16:creationId xmlns:a16="http://schemas.microsoft.com/office/drawing/2014/main" id="{544B8634-24BA-6A4A-5840-9887B4C24A86}"/>
                </a:ext>
              </a:extLst>
            </p:cNvPr>
            <p:cNvCxnSpPr/>
            <p:nvPr/>
          </p:nvCxnSpPr>
          <p:spPr>
            <a:xfrm>
              <a:off x="4022875" y="1883050"/>
              <a:ext cx="440100" cy="90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80;p14">
              <a:extLst>
                <a:ext uri="{FF2B5EF4-FFF2-40B4-BE49-F238E27FC236}">
                  <a16:creationId xmlns:a16="http://schemas.microsoft.com/office/drawing/2014/main" id="{2ADA3648-4E39-FC57-7551-E8CACDC84C2D}"/>
                </a:ext>
              </a:extLst>
            </p:cNvPr>
            <p:cNvCxnSpPr/>
            <p:nvPr/>
          </p:nvCxnSpPr>
          <p:spPr>
            <a:xfrm>
              <a:off x="4460150" y="4104350"/>
              <a:ext cx="336000" cy="900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Google Shape;81;p14">
              <a:extLst>
                <a:ext uri="{FF2B5EF4-FFF2-40B4-BE49-F238E27FC236}">
                  <a16:creationId xmlns:a16="http://schemas.microsoft.com/office/drawing/2014/main" id="{632ADFD4-2538-3BF5-F5B1-EB9DC2B28482}"/>
                </a:ext>
              </a:extLst>
            </p:cNvPr>
            <p:cNvSpPr/>
            <p:nvPr/>
          </p:nvSpPr>
          <p:spPr>
            <a:xfrm rot="-5400000">
              <a:off x="1589288" y="2727257"/>
              <a:ext cx="1526400" cy="3582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9525" cap="flat" cmpd="sng">
              <a:solidFill>
                <a:srgbClr val="840D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325" tIns="83325" rIns="83325" bIns="83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2">
                  <a:solidFill>
                    <a:srgbClr val="FFFFFF"/>
                  </a:solidFill>
                </a:rPr>
                <a:t>ht_location</a:t>
              </a:r>
              <a:endParaRPr sz="1002">
                <a:solidFill>
                  <a:srgbClr val="FFFFFF"/>
                </a:solidFill>
              </a:endParaRPr>
            </a:p>
          </p:txBody>
        </p:sp>
        <p:cxnSp>
          <p:nvCxnSpPr>
            <p:cNvPr id="37" name="Google Shape;82;p14">
              <a:extLst>
                <a:ext uri="{FF2B5EF4-FFF2-40B4-BE49-F238E27FC236}">
                  <a16:creationId xmlns:a16="http://schemas.microsoft.com/office/drawing/2014/main" id="{899A6331-9AA3-E834-371F-A35089F467CB}"/>
                </a:ext>
              </a:extLst>
            </p:cNvPr>
            <p:cNvCxnSpPr/>
            <p:nvPr/>
          </p:nvCxnSpPr>
          <p:spPr>
            <a:xfrm rot="10800000" flipH="1">
              <a:off x="2698875" y="1903450"/>
              <a:ext cx="574200" cy="1500"/>
            </a:xfrm>
            <a:prstGeom prst="straightConnector1">
              <a:avLst/>
            </a:prstGeom>
            <a:noFill/>
            <a:ln w="11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83;p14">
              <a:extLst>
                <a:ext uri="{FF2B5EF4-FFF2-40B4-BE49-F238E27FC236}">
                  <a16:creationId xmlns:a16="http://schemas.microsoft.com/office/drawing/2014/main" id="{E84A20E3-7B5A-74A7-1923-0F4384A51F99}"/>
                </a:ext>
              </a:extLst>
            </p:cNvPr>
            <p:cNvCxnSpPr/>
            <p:nvPr/>
          </p:nvCxnSpPr>
          <p:spPr>
            <a:xfrm rot="10800000">
              <a:off x="2698863" y="3981150"/>
              <a:ext cx="220800" cy="5400"/>
            </a:xfrm>
            <a:prstGeom prst="straightConnector1">
              <a:avLst/>
            </a:prstGeom>
            <a:noFill/>
            <a:ln w="113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84;p14">
              <a:extLst>
                <a:ext uri="{FF2B5EF4-FFF2-40B4-BE49-F238E27FC236}">
                  <a16:creationId xmlns:a16="http://schemas.microsoft.com/office/drawing/2014/main" id="{0A44F2F8-1E13-E300-5BB4-376E8157AA7E}"/>
                </a:ext>
              </a:extLst>
            </p:cNvPr>
            <p:cNvCxnSpPr/>
            <p:nvPr/>
          </p:nvCxnSpPr>
          <p:spPr>
            <a:xfrm rot="10800000">
              <a:off x="4971814" y="1971391"/>
              <a:ext cx="138000" cy="0"/>
            </a:xfrm>
            <a:prstGeom prst="straightConnector1">
              <a:avLst/>
            </a:prstGeom>
            <a:noFill/>
            <a:ln w="128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85;p14">
              <a:extLst>
                <a:ext uri="{FF2B5EF4-FFF2-40B4-BE49-F238E27FC236}">
                  <a16:creationId xmlns:a16="http://schemas.microsoft.com/office/drawing/2014/main" id="{BBEFCC2D-54E8-1094-B2EC-8A7C42E2F45C}"/>
                </a:ext>
              </a:extLst>
            </p:cNvPr>
            <p:cNvCxnSpPr/>
            <p:nvPr/>
          </p:nvCxnSpPr>
          <p:spPr>
            <a:xfrm rot="10800000">
              <a:off x="4970955" y="2442378"/>
              <a:ext cx="138000" cy="0"/>
            </a:xfrm>
            <a:prstGeom prst="straightConnector1">
              <a:avLst/>
            </a:prstGeom>
            <a:noFill/>
            <a:ln w="128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86;p14">
              <a:extLst>
                <a:ext uri="{FF2B5EF4-FFF2-40B4-BE49-F238E27FC236}">
                  <a16:creationId xmlns:a16="http://schemas.microsoft.com/office/drawing/2014/main" id="{C35E8770-1405-A977-34E3-FECA8173145A}"/>
                </a:ext>
              </a:extLst>
            </p:cNvPr>
            <p:cNvCxnSpPr/>
            <p:nvPr/>
          </p:nvCxnSpPr>
          <p:spPr>
            <a:xfrm rot="10800000">
              <a:off x="4963395" y="3652848"/>
              <a:ext cx="138000" cy="0"/>
            </a:xfrm>
            <a:prstGeom prst="straightConnector1">
              <a:avLst/>
            </a:prstGeom>
            <a:noFill/>
            <a:ln w="128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87;p14">
              <a:extLst>
                <a:ext uri="{FF2B5EF4-FFF2-40B4-BE49-F238E27FC236}">
                  <a16:creationId xmlns:a16="http://schemas.microsoft.com/office/drawing/2014/main" id="{79125633-82CE-1E94-755C-843BCBF25A3E}"/>
                </a:ext>
              </a:extLst>
            </p:cNvPr>
            <p:cNvCxnSpPr/>
            <p:nvPr/>
          </p:nvCxnSpPr>
          <p:spPr>
            <a:xfrm rot="10800000">
              <a:off x="4974280" y="3101433"/>
              <a:ext cx="138300" cy="0"/>
            </a:xfrm>
            <a:prstGeom prst="straightConnector1">
              <a:avLst/>
            </a:prstGeom>
            <a:noFill/>
            <a:ln w="108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88;p14">
              <a:extLst>
                <a:ext uri="{FF2B5EF4-FFF2-40B4-BE49-F238E27FC236}">
                  <a16:creationId xmlns:a16="http://schemas.microsoft.com/office/drawing/2014/main" id="{37C2AF72-B76F-DEE4-D120-694CF193D460}"/>
                </a:ext>
              </a:extLst>
            </p:cNvPr>
            <p:cNvSpPr/>
            <p:nvPr/>
          </p:nvSpPr>
          <p:spPr>
            <a:xfrm>
              <a:off x="5282525" y="2494950"/>
              <a:ext cx="1389600" cy="1007100"/>
            </a:xfrm>
            <a:prstGeom prst="roundRect">
              <a:avLst>
                <a:gd name="adj" fmla="val 16667"/>
              </a:avLst>
            </a:prstGeom>
            <a:solidFill>
              <a:srgbClr val="B7B7B7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325" tIns="83325" rIns="83325" bIns="83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dirty="0" err="1">
                  <a:solidFill>
                    <a:srgbClr val="FFFFFF"/>
                  </a:solidFill>
                </a:rPr>
                <a:t>Hotel’s</a:t>
              </a:r>
              <a:r>
                <a:rPr lang="pt-PT" dirty="0">
                  <a:solidFill>
                    <a:srgbClr val="FFFFFF"/>
                  </a:solidFill>
                </a:rPr>
                <a:t> </a:t>
              </a:r>
              <a:r>
                <a:rPr lang="pt-PT" dirty="0" err="1">
                  <a:solidFill>
                    <a:srgbClr val="FFFFFF"/>
                  </a:solidFill>
                </a:rPr>
                <a:t>minimum</a:t>
              </a:r>
              <a:r>
                <a:rPr lang="pt-PT" dirty="0">
                  <a:solidFill>
                    <a:srgbClr val="FFFFFF"/>
                  </a:solidFill>
                </a:rPr>
                <a:t> </a:t>
              </a:r>
              <a:r>
                <a:rPr lang="pt-PT" dirty="0" err="1">
                  <a:solidFill>
                    <a:srgbClr val="FFFFFF"/>
                  </a:solidFill>
                </a:rPr>
                <a:t>and</a:t>
              </a:r>
              <a:r>
                <a:rPr lang="pt-PT" dirty="0">
                  <a:solidFill>
                    <a:srgbClr val="FFFFFF"/>
                  </a:solidFill>
                </a:rPr>
                <a:t> </a:t>
              </a:r>
              <a:r>
                <a:rPr lang="pt-PT" dirty="0" err="1">
                  <a:solidFill>
                    <a:srgbClr val="FFFFFF"/>
                  </a:solidFill>
                </a:rPr>
                <a:t>average</a:t>
              </a:r>
              <a:r>
                <a:rPr lang="pt-PT" dirty="0">
                  <a:solidFill>
                    <a:srgbClr val="FFFFFF"/>
                  </a:solidFill>
                </a:rPr>
                <a:t> </a:t>
              </a:r>
              <a:r>
                <a:rPr lang="pt-PT" dirty="0" err="1">
                  <a:solidFill>
                    <a:srgbClr val="FFFFFF"/>
                  </a:solidFill>
                </a:rPr>
                <a:t>distances</a:t>
              </a:r>
              <a:r>
                <a:rPr lang="pt-PT" dirty="0">
                  <a:solidFill>
                    <a:srgbClr val="FFFFFF"/>
                  </a:solidFill>
                </a:rPr>
                <a:t> to </a:t>
              </a:r>
              <a:r>
                <a:rPr lang="pt-PT" dirty="0" err="1">
                  <a:solidFill>
                    <a:srgbClr val="FFFFFF"/>
                  </a:solidFill>
                </a:rPr>
                <a:t>the</a:t>
              </a:r>
              <a:r>
                <a:rPr lang="pt-PT" dirty="0">
                  <a:solidFill>
                    <a:srgbClr val="FFFFFF"/>
                  </a:solidFill>
                </a:rPr>
                <a:t> 3, 6, 9, </a:t>
              </a:r>
              <a:r>
                <a:rPr lang="pt-PT" dirty="0" err="1">
                  <a:solidFill>
                    <a:srgbClr val="FFFFFF"/>
                  </a:solidFill>
                </a:rPr>
                <a:t>and</a:t>
              </a:r>
              <a:r>
                <a:rPr lang="pt-PT" dirty="0">
                  <a:solidFill>
                    <a:srgbClr val="FFFFFF"/>
                  </a:solidFill>
                </a:rPr>
                <a:t> 12 </a:t>
              </a:r>
              <a:r>
                <a:rPr lang="pt-PT" dirty="0" err="1">
                  <a:solidFill>
                    <a:srgbClr val="FFFFFF"/>
                  </a:solidFill>
                </a:rPr>
                <a:t>nearest</a:t>
              </a:r>
              <a:r>
                <a:rPr lang="pt-PT" dirty="0">
                  <a:solidFill>
                    <a:srgbClr val="FFFFFF"/>
                  </a:solidFill>
                </a:rPr>
                <a:t> </a:t>
              </a:r>
              <a:r>
                <a:rPr lang="pt-PT" dirty="0" err="1">
                  <a:solidFill>
                    <a:srgbClr val="FFFFFF"/>
                  </a:solidFill>
                </a:rPr>
                <a:t>tourist</a:t>
              </a:r>
              <a:r>
                <a:rPr lang="pt-PT" dirty="0">
                  <a:solidFill>
                    <a:srgbClr val="FFFFFF"/>
                  </a:solidFill>
                </a:rPr>
                <a:t> </a:t>
              </a:r>
              <a:r>
                <a:rPr lang="pt-PT" dirty="0" err="1">
                  <a:solidFill>
                    <a:srgbClr val="FFFFFF"/>
                  </a:solidFill>
                </a:rPr>
                <a:t>attractions</a:t>
              </a:r>
              <a:r>
                <a:rPr lang="pt-PT" dirty="0">
                  <a:solidFill>
                    <a:srgbClr val="FFFFFF"/>
                  </a:solidFill>
                </a:rPr>
                <a:t>. </a:t>
              </a: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44" name="Google Shape;89;p14">
              <a:extLst>
                <a:ext uri="{FF2B5EF4-FFF2-40B4-BE49-F238E27FC236}">
                  <a16:creationId xmlns:a16="http://schemas.microsoft.com/office/drawing/2014/main" id="{AA2F31E2-BC3E-165C-9D74-9D92F4E7D0E0}"/>
                </a:ext>
              </a:extLst>
            </p:cNvPr>
            <p:cNvSpPr/>
            <p:nvPr/>
          </p:nvSpPr>
          <p:spPr>
            <a:xfrm>
              <a:off x="3304960" y="2495275"/>
              <a:ext cx="683400" cy="267300"/>
            </a:xfrm>
            <a:prstGeom prst="roundRect">
              <a:avLst>
                <a:gd name="adj" fmla="val 16667"/>
              </a:avLst>
            </a:prstGeom>
            <a:solidFill>
              <a:srgbClr val="B7B7B7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325" tIns="83325" rIns="83325" bIns="83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2">
                  <a:solidFill>
                    <a:srgbClr val="FFFFFF"/>
                  </a:solidFill>
                </a:rPr>
                <a:t>castle</a:t>
              </a:r>
              <a:endParaRPr sz="1002">
                <a:solidFill>
                  <a:srgbClr val="FFFFFF"/>
                </a:solidFill>
              </a:endParaRPr>
            </a:p>
          </p:txBody>
        </p:sp>
        <p:cxnSp>
          <p:nvCxnSpPr>
            <p:cNvPr id="45" name="Google Shape;90;p14">
              <a:extLst>
                <a:ext uri="{FF2B5EF4-FFF2-40B4-BE49-F238E27FC236}">
                  <a16:creationId xmlns:a16="http://schemas.microsoft.com/office/drawing/2014/main" id="{6D7C93AC-DA3E-870A-BED1-DE3D72A1D653}"/>
                </a:ext>
              </a:extLst>
            </p:cNvPr>
            <p:cNvCxnSpPr>
              <a:endCxn id="44" idx="1"/>
            </p:cNvCxnSpPr>
            <p:nvPr/>
          </p:nvCxnSpPr>
          <p:spPr>
            <a:xfrm>
              <a:off x="2476060" y="2623225"/>
              <a:ext cx="828900" cy="5700"/>
            </a:xfrm>
            <a:prstGeom prst="straightConnector1">
              <a:avLst/>
            </a:prstGeom>
            <a:noFill/>
            <a:ln w="113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91;p14">
              <a:extLst>
                <a:ext uri="{FF2B5EF4-FFF2-40B4-BE49-F238E27FC236}">
                  <a16:creationId xmlns:a16="http://schemas.microsoft.com/office/drawing/2014/main" id="{2CB6BA08-7606-BA96-1F3C-B67CBA50EC8F}"/>
                </a:ext>
              </a:extLst>
            </p:cNvPr>
            <p:cNvCxnSpPr/>
            <p:nvPr/>
          </p:nvCxnSpPr>
          <p:spPr>
            <a:xfrm rot="10800000" flipH="1">
              <a:off x="4452700" y="1884900"/>
              <a:ext cx="4800" cy="222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92;p14">
              <a:extLst>
                <a:ext uri="{FF2B5EF4-FFF2-40B4-BE49-F238E27FC236}">
                  <a16:creationId xmlns:a16="http://schemas.microsoft.com/office/drawing/2014/main" id="{E273D08E-D3C3-1005-591E-2CD61412C5AB}"/>
                </a:ext>
              </a:extLst>
            </p:cNvPr>
            <p:cNvCxnSpPr>
              <a:stCxn id="44" idx="3"/>
            </p:cNvCxnSpPr>
            <p:nvPr/>
          </p:nvCxnSpPr>
          <p:spPr>
            <a:xfrm rot="10800000" flipH="1">
              <a:off x="3988360" y="2621125"/>
              <a:ext cx="477900" cy="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93;p14">
              <a:extLst>
                <a:ext uri="{FF2B5EF4-FFF2-40B4-BE49-F238E27FC236}">
                  <a16:creationId xmlns:a16="http://schemas.microsoft.com/office/drawing/2014/main" id="{1E94ABA1-AD9E-861B-F782-A49C18EAA220}"/>
                </a:ext>
              </a:extLst>
            </p:cNvPr>
            <p:cNvCxnSpPr/>
            <p:nvPr/>
          </p:nvCxnSpPr>
          <p:spPr>
            <a:xfrm>
              <a:off x="4179726" y="3300400"/>
              <a:ext cx="283500" cy="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94;p14">
              <a:extLst>
                <a:ext uri="{FF2B5EF4-FFF2-40B4-BE49-F238E27FC236}">
                  <a16:creationId xmlns:a16="http://schemas.microsoft.com/office/drawing/2014/main" id="{7FBEBC81-A951-36C7-493A-25681F549771}"/>
                </a:ext>
              </a:extLst>
            </p:cNvPr>
            <p:cNvCxnSpPr/>
            <p:nvPr/>
          </p:nvCxnSpPr>
          <p:spPr>
            <a:xfrm>
              <a:off x="4452925" y="4111125"/>
              <a:ext cx="149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Google Shape;95;p14">
              <a:extLst>
                <a:ext uri="{FF2B5EF4-FFF2-40B4-BE49-F238E27FC236}">
                  <a16:creationId xmlns:a16="http://schemas.microsoft.com/office/drawing/2014/main" id="{2BEA3068-5367-C22B-E055-ACB21379C0C5}"/>
                </a:ext>
              </a:extLst>
            </p:cNvPr>
            <p:cNvSpPr/>
            <p:nvPr/>
          </p:nvSpPr>
          <p:spPr>
            <a:xfrm>
              <a:off x="4599374" y="3944994"/>
              <a:ext cx="358200" cy="448500"/>
            </a:xfrm>
            <a:prstGeom prst="roundRect">
              <a:avLst>
                <a:gd name="adj" fmla="val 16667"/>
              </a:avLst>
            </a:prstGeom>
            <a:solidFill>
              <a:srgbClr val="666666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025" tIns="78025" rIns="78025" bIns="78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38" dirty="0">
                  <a:solidFill>
                    <a:srgbClr val="FFFFFF"/>
                  </a:solidFill>
                </a:rPr>
                <a:t>5</a:t>
              </a:r>
              <a:endParaRPr sz="938" dirty="0">
                <a:solidFill>
                  <a:srgbClr val="FFFFFF"/>
                </a:solidFill>
              </a:endParaRPr>
            </a:p>
          </p:txBody>
        </p:sp>
        <p:cxnSp>
          <p:nvCxnSpPr>
            <p:cNvPr id="51" name="Google Shape;96;p14">
              <a:extLst>
                <a:ext uri="{FF2B5EF4-FFF2-40B4-BE49-F238E27FC236}">
                  <a16:creationId xmlns:a16="http://schemas.microsoft.com/office/drawing/2014/main" id="{B9078A4A-540F-1CE8-879F-031E0A1F5E28}"/>
                </a:ext>
              </a:extLst>
            </p:cNvPr>
            <p:cNvCxnSpPr/>
            <p:nvPr/>
          </p:nvCxnSpPr>
          <p:spPr>
            <a:xfrm>
              <a:off x="2693350" y="1910400"/>
              <a:ext cx="600" cy="207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97;p14">
              <a:extLst>
                <a:ext uri="{FF2B5EF4-FFF2-40B4-BE49-F238E27FC236}">
                  <a16:creationId xmlns:a16="http://schemas.microsoft.com/office/drawing/2014/main" id="{3DA667E1-A92C-3AAF-3EED-0DB2429809D5}"/>
                </a:ext>
              </a:extLst>
            </p:cNvPr>
            <p:cNvCxnSpPr/>
            <p:nvPr/>
          </p:nvCxnSpPr>
          <p:spPr>
            <a:xfrm>
              <a:off x="4188495" y="3981967"/>
              <a:ext cx="283500" cy="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3" name="Google Shape;98;p14">
              <a:extLst>
                <a:ext uri="{FF2B5EF4-FFF2-40B4-BE49-F238E27FC236}">
                  <a16:creationId xmlns:a16="http://schemas.microsoft.com/office/drawing/2014/main" id="{0BB45092-4465-435B-EC3C-613B09CD2B28}"/>
                </a:ext>
              </a:extLst>
            </p:cNvPr>
            <p:cNvSpPr/>
            <p:nvPr/>
          </p:nvSpPr>
          <p:spPr>
            <a:xfrm>
              <a:off x="2919663" y="3852000"/>
              <a:ext cx="1452000" cy="267300"/>
            </a:xfrm>
            <a:prstGeom prst="roundRect">
              <a:avLst>
                <a:gd name="adj" fmla="val 16667"/>
              </a:avLst>
            </a:prstGeom>
            <a:solidFill>
              <a:srgbClr val="B7B7B7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325" tIns="83325" rIns="83325" bIns="83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2">
                  <a:solidFill>
                    <a:srgbClr val="FFFFFF"/>
                  </a:solidFill>
                </a:rPr>
                <a:t>beach, castle, church</a:t>
              </a:r>
              <a:endParaRPr sz="1002">
                <a:solidFill>
                  <a:srgbClr val="FFFFFF"/>
                </a:solidFill>
              </a:endParaRPr>
            </a:p>
          </p:txBody>
        </p:sp>
        <p:sp>
          <p:nvSpPr>
            <p:cNvPr id="54" name="Google Shape;99;p14">
              <a:extLst>
                <a:ext uri="{FF2B5EF4-FFF2-40B4-BE49-F238E27FC236}">
                  <a16:creationId xmlns:a16="http://schemas.microsoft.com/office/drawing/2014/main" id="{97E6B391-7416-39DD-C115-4DB68AFC9659}"/>
                </a:ext>
              </a:extLst>
            </p:cNvPr>
            <p:cNvSpPr/>
            <p:nvPr/>
          </p:nvSpPr>
          <p:spPr>
            <a:xfrm>
              <a:off x="4599374" y="1689083"/>
              <a:ext cx="358200" cy="448500"/>
            </a:xfrm>
            <a:prstGeom prst="roundRect">
              <a:avLst>
                <a:gd name="adj" fmla="val 16667"/>
              </a:avLst>
            </a:prstGeom>
            <a:solidFill>
              <a:srgbClr val="666666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025" tIns="78025" rIns="78025" bIns="78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3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9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5" name="Google Shape;100;p14">
              <a:extLst>
                <a:ext uri="{FF2B5EF4-FFF2-40B4-BE49-F238E27FC236}">
                  <a16:creationId xmlns:a16="http://schemas.microsoft.com/office/drawing/2014/main" id="{C1ED9F98-C573-3FA2-1E62-743349592C37}"/>
                </a:ext>
              </a:extLst>
            </p:cNvPr>
            <p:cNvCxnSpPr/>
            <p:nvPr/>
          </p:nvCxnSpPr>
          <p:spPr>
            <a:xfrm>
              <a:off x="5102675" y="1976050"/>
              <a:ext cx="11700" cy="219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101;p14">
              <a:extLst>
                <a:ext uri="{FF2B5EF4-FFF2-40B4-BE49-F238E27FC236}">
                  <a16:creationId xmlns:a16="http://schemas.microsoft.com/office/drawing/2014/main" id="{E6F24FB7-20F2-28A3-DCB2-1A9AB19D1E4D}"/>
                </a:ext>
              </a:extLst>
            </p:cNvPr>
            <p:cNvCxnSpPr>
              <a:stCxn id="50" idx="3"/>
            </p:cNvCxnSpPr>
            <p:nvPr/>
          </p:nvCxnSpPr>
          <p:spPr>
            <a:xfrm rot="10800000" flipH="1">
              <a:off x="4957574" y="4166544"/>
              <a:ext cx="160500" cy="2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102;p14">
              <a:extLst>
                <a:ext uri="{FF2B5EF4-FFF2-40B4-BE49-F238E27FC236}">
                  <a16:creationId xmlns:a16="http://schemas.microsoft.com/office/drawing/2014/main" id="{8E968109-1B0C-B54E-BA3A-3538D893A153}"/>
                </a:ext>
              </a:extLst>
            </p:cNvPr>
            <p:cNvCxnSpPr/>
            <p:nvPr/>
          </p:nvCxnSpPr>
          <p:spPr>
            <a:xfrm>
              <a:off x="5110250" y="327630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BB34F62-7F24-FE27-347F-829DA7272413}"/>
              </a:ext>
            </a:extLst>
          </p:cNvPr>
          <p:cNvSpPr txBox="1"/>
          <p:nvPr/>
        </p:nvSpPr>
        <p:spPr>
          <a:xfrm>
            <a:off x="3225672" y="5933181"/>
            <a:ext cx="5491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Figure 1: </a:t>
            </a:r>
            <a:r>
              <a:rPr lang="en-US" sz="800" dirty="0"/>
              <a:t>Definitions of Variables Related to Distances</a:t>
            </a:r>
          </a:p>
        </p:txBody>
      </p:sp>
    </p:spTree>
    <p:extLst>
      <p:ext uri="{BB962C8B-B14F-4D97-AF65-F5344CB8AC3E}">
        <p14:creationId xmlns:p14="http://schemas.microsoft.com/office/powerpoint/2010/main" val="3034978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A09-8DF8-F62F-9534-219510B6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47A11-45A2-C24E-D0BB-743A9BDB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96" y="2884861"/>
            <a:ext cx="7876203" cy="979091"/>
          </a:xfrm>
        </p:spPr>
        <p:txBody>
          <a:bodyPr/>
          <a:lstStyle/>
          <a:p>
            <a:r>
              <a:rPr lang="pt-PT" dirty="0" err="1"/>
              <a:t>Results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Discussion</a:t>
            </a:r>
            <a:endParaRPr lang="pt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3DA32A-2894-6763-A32A-8BE780333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5896" y="3757164"/>
            <a:ext cx="5742719" cy="521891"/>
          </a:xfrm>
        </p:spPr>
        <p:txBody>
          <a:bodyPr/>
          <a:lstStyle/>
          <a:p>
            <a:r>
              <a:rPr lang="en-US" dirty="0"/>
              <a:t>Proximity and Predictors of Credit Risk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E60214-A55C-A052-F18F-E9C11423F6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b="0" dirty="0"/>
              <a:t>04.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F251D1-B08E-096B-BE4E-E35626C315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92E4DA1A-C289-7891-C7C2-9907D63E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fld id="{F5D87A1C-04A5-464D-9747-6D64679AA987}" type="slidenum">
              <a:rPr lang="en-PT" smtClean="0"/>
              <a:pPr/>
              <a:t>10</a:t>
            </a:fld>
            <a:endParaRPr lang="en-P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848BAC-0E35-64A4-921D-B690DE5E4890}"/>
              </a:ext>
            </a:extLst>
          </p:cNvPr>
          <p:cNvSpPr/>
          <p:nvPr/>
        </p:nvSpPr>
        <p:spPr>
          <a:xfrm>
            <a:off x="3985897" y="4362983"/>
            <a:ext cx="5742718" cy="591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4421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6A26E-1061-C7CB-DE8E-85D03FA2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76B7F91-8BCD-5F78-D2BC-E91EAB3A5B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Results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Discussion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B7CD9-F71A-59E2-BD59-61FCB84C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11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27C4511-776C-C346-420E-E7C5E6DE9A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graphicFrame>
        <p:nvGraphicFramePr>
          <p:cNvPr id="8" name="Content Placeholder 1">
            <a:extLst>
              <a:ext uri="{FF2B5EF4-FFF2-40B4-BE49-F238E27FC236}">
                <a16:creationId xmlns:a16="http://schemas.microsoft.com/office/drawing/2014/main" id="{DDD81D25-FB74-EB04-2DB8-F8968EDCB7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412986"/>
              </p:ext>
            </p:extLst>
          </p:nvPr>
        </p:nvGraphicFramePr>
        <p:xfrm>
          <a:off x="120234" y="2017473"/>
          <a:ext cx="5855532" cy="3426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1996">
                  <a:extLst>
                    <a:ext uri="{9D8B030D-6E8A-4147-A177-3AD203B41FA5}">
                      <a16:colId xmlns:a16="http://schemas.microsoft.com/office/drawing/2014/main" val="2467075522"/>
                    </a:ext>
                  </a:extLst>
                </a:gridCol>
                <a:gridCol w="899833">
                  <a:extLst>
                    <a:ext uri="{9D8B030D-6E8A-4147-A177-3AD203B41FA5}">
                      <a16:colId xmlns:a16="http://schemas.microsoft.com/office/drawing/2014/main" val="1084004419"/>
                    </a:ext>
                  </a:extLst>
                </a:gridCol>
                <a:gridCol w="899833">
                  <a:extLst>
                    <a:ext uri="{9D8B030D-6E8A-4147-A177-3AD203B41FA5}">
                      <a16:colId xmlns:a16="http://schemas.microsoft.com/office/drawing/2014/main" val="3760788660"/>
                    </a:ext>
                  </a:extLst>
                </a:gridCol>
                <a:gridCol w="899833">
                  <a:extLst>
                    <a:ext uri="{9D8B030D-6E8A-4147-A177-3AD203B41FA5}">
                      <a16:colId xmlns:a16="http://schemas.microsoft.com/office/drawing/2014/main" val="3560491804"/>
                    </a:ext>
                  </a:extLst>
                </a:gridCol>
                <a:gridCol w="899833">
                  <a:extLst>
                    <a:ext uri="{9D8B030D-6E8A-4147-A177-3AD203B41FA5}">
                      <a16:colId xmlns:a16="http://schemas.microsoft.com/office/drawing/2014/main" val="1426942151"/>
                    </a:ext>
                  </a:extLst>
                </a:gridCol>
                <a:gridCol w="954204">
                  <a:extLst>
                    <a:ext uri="{9D8B030D-6E8A-4147-A177-3AD203B41FA5}">
                      <a16:colId xmlns:a16="http://schemas.microsoft.com/office/drawing/2014/main" val="1444986235"/>
                    </a:ext>
                  </a:extLst>
                </a:gridCol>
              </a:tblGrid>
              <a:tr h="170102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Variables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Dynamic Panel Data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241970"/>
                  </a:ext>
                </a:extLst>
              </a:tr>
              <a:tr h="1701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Dependent Variable: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70059"/>
                  </a:ext>
                </a:extLst>
              </a:tr>
              <a:tr h="1701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Z-score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70009"/>
                  </a:ext>
                </a:extLst>
              </a:tr>
              <a:tr h="1701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205761"/>
                  </a:ext>
                </a:extLst>
              </a:tr>
              <a:tr h="3518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L.Z-</a:t>
                      </a:r>
                      <a:r>
                        <a:rPr lang="en-US" sz="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score_w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1.584 (0.115) ***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1.588 (0.113) ***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1.586 (0.111) ***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1.504 (0.132) ***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1.457  (0.117) ***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86119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ht_location_1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0.027 (0.045)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047309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ht_location_2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0.031 (0.045)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818489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ht_location_3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0.032 (0.046)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423046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ht_location_4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-0.047 (0.038)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6664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ht_location_5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-0.010 (0.002) ***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746756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77605"/>
                  </a:ext>
                </a:extLst>
              </a:tr>
              <a:tr h="1711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399253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Constant  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-0.032 (2.507)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-0.272 (2.569)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-0.428 (2.675)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2.758 (2.708)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0.071 (2.062)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769714"/>
                  </a:ext>
                </a:extLst>
              </a:tr>
              <a:tr h="3518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Observations (no. of hotels)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960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960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960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960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960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352054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Wald (χ2 )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926.590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948.820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958.580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645.220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804.650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818455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AR(1)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-3.030 ***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-3.110 ***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-3.130 ***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-2.380 **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-2.540 ***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298573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AR(2)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0.660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0.690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0.700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ysClr val="windowText" lastClr="000000"/>
                          </a:solidFill>
                          <a:effectLst/>
                        </a:rPr>
                        <a:t>0.190</a:t>
                      </a:r>
                      <a:endParaRPr lang="en-US" sz="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0.480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019067"/>
                  </a:ext>
                </a:extLst>
              </a:tr>
              <a:tr h="1701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52279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FB96533-0634-167D-F764-46D673FB296F}"/>
              </a:ext>
            </a:extLst>
          </p:cNvPr>
          <p:cNvSpPr txBox="1"/>
          <p:nvPr/>
        </p:nvSpPr>
        <p:spPr>
          <a:xfrm>
            <a:off x="177917" y="1740473"/>
            <a:ext cx="5918083" cy="276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1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kumimoji="0" lang="en-US" altLang="en-US" sz="1200" b="0" i="1" u="none" strike="noStrike" cap="none" normalizeH="0" baseline="0" dirty="0" bmk="_Toc203240688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</a:t>
            </a:r>
            <a:r>
              <a:rPr 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Regions: </a:t>
            </a:r>
            <a:r>
              <a:rPr lang="en-US" sz="1200" b="1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Distances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A70765A4-EFDE-0C6E-0112-59702D5B67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3025732"/>
              </p:ext>
            </p:extLst>
          </p:nvPr>
        </p:nvGraphicFramePr>
        <p:xfrm>
          <a:off x="6096000" y="2017471"/>
          <a:ext cx="5988266" cy="34265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8191">
                  <a:extLst>
                    <a:ext uri="{9D8B030D-6E8A-4147-A177-3AD203B41FA5}">
                      <a16:colId xmlns:a16="http://schemas.microsoft.com/office/drawing/2014/main" val="2631910038"/>
                    </a:ext>
                  </a:extLst>
                </a:gridCol>
                <a:gridCol w="914837">
                  <a:extLst>
                    <a:ext uri="{9D8B030D-6E8A-4147-A177-3AD203B41FA5}">
                      <a16:colId xmlns:a16="http://schemas.microsoft.com/office/drawing/2014/main" val="2969254139"/>
                    </a:ext>
                  </a:extLst>
                </a:gridCol>
                <a:gridCol w="914837">
                  <a:extLst>
                    <a:ext uri="{9D8B030D-6E8A-4147-A177-3AD203B41FA5}">
                      <a16:colId xmlns:a16="http://schemas.microsoft.com/office/drawing/2014/main" val="364588977"/>
                    </a:ext>
                  </a:extLst>
                </a:gridCol>
                <a:gridCol w="914837">
                  <a:extLst>
                    <a:ext uri="{9D8B030D-6E8A-4147-A177-3AD203B41FA5}">
                      <a16:colId xmlns:a16="http://schemas.microsoft.com/office/drawing/2014/main" val="1692872768"/>
                    </a:ext>
                  </a:extLst>
                </a:gridCol>
                <a:gridCol w="948174">
                  <a:extLst>
                    <a:ext uri="{9D8B030D-6E8A-4147-A177-3AD203B41FA5}">
                      <a16:colId xmlns:a16="http://schemas.microsoft.com/office/drawing/2014/main" val="3486451497"/>
                    </a:ext>
                  </a:extLst>
                </a:gridCol>
                <a:gridCol w="1027390">
                  <a:extLst>
                    <a:ext uri="{9D8B030D-6E8A-4147-A177-3AD203B41FA5}">
                      <a16:colId xmlns:a16="http://schemas.microsoft.com/office/drawing/2014/main" val="3789519888"/>
                    </a:ext>
                  </a:extLst>
                </a:gridCol>
              </a:tblGrid>
              <a:tr h="168646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Dynamic Panel Data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79200"/>
                  </a:ext>
                </a:extLst>
              </a:tr>
              <a:tr h="1686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Dependent Variable: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95216"/>
                  </a:ext>
                </a:extLst>
              </a:tr>
              <a:tr h="1686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Z-score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972610"/>
                  </a:ext>
                </a:extLst>
              </a:tr>
              <a:tr h="203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Coef (Std. error)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Coef (Std. error)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02388"/>
                  </a:ext>
                </a:extLst>
              </a:tr>
              <a:tr h="34653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L.Z-score_w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1.603 (0.099)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1.591 (0.100)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1.569 (0.104)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1.472 (0.133)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1.462 (0.122)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65035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0.040 (0.017) 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451237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0.032 (0.015) 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218565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ht_location_beach3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0.013 (0.013)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087389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-0.018 (0.006)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99967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-0.008 (0.002)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06705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852920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87936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Constant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-1.264 (2.007)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-1.023 (2.021)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0.024 (2.090)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1.169 (2.337)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0.161 (2.156)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1663"/>
                  </a:ext>
                </a:extLst>
              </a:tr>
              <a:tr h="34653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Observations (no. of hotels)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89173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Wald (χ2 )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1074.060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1050.240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950.520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616.740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734.520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093318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AR(1)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-3.010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-2.920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-2.890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-2.370 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-2.500 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285664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AR(2)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0.820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0.870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0.760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-0.010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-0.260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486134"/>
                  </a:ext>
                </a:extLst>
              </a:tr>
              <a:tr h="1686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87" marR="67687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5487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A65BBD3-7CF5-3592-6FB7-DF997269317E}"/>
              </a:ext>
            </a:extLst>
          </p:cNvPr>
          <p:cNvSpPr txBox="1"/>
          <p:nvPr/>
        </p:nvSpPr>
        <p:spPr>
          <a:xfrm>
            <a:off x="6096000" y="1740473"/>
            <a:ext cx="5918082" cy="27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1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Regions: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Beaches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Distances</a:t>
            </a:r>
            <a:endParaRPr lang="en-US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FF84D-665C-295E-45E3-1B3EF6E81BF3}"/>
              </a:ext>
            </a:extLst>
          </p:cNvPr>
          <p:cNvSpPr txBox="1"/>
          <p:nvPr/>
        </p:nvSpPr>
        <p:spPr>
          <a:xfrm>
            <a:off x="177917" y="5443975"/>
            <a:ext cx="118361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Notes: Coef. denotes the coefficient of explanatory variables and Std. error represents the heteroscedasticity-robust asymptotic standard error. AR(1) is a serial correlation test of order 1 (and AR(2) of order 2 using residuals in first differences, under the null hypothesis of no serial correlation. Wald (X2 ) is a test of the joint significance of the reported coefficients, under the null hypothesis of no relationship. ***, **, * denote significance at the 1%, 5% and 10% levels, respectively.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14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D30C-111F-6A27-0535-3306CB38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07B2D0C-BDB6-1B4D-6481-DEE9E91DB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Results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Discussion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8C748-C605-F791-ECAA-9F97798B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12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79085B8-127C-1FBC-A5BD-F9721B6A4B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E9949-43F9-9EF1-3633-22F4357AC1B5}"/>
              </a:ext>
            </a:extLst>
          </p:cNvPr>
          <p:cNvSpPr txBox="1"/>
          <p:nvPr/>
        </p:nvSpPr>
        <p:spPr>
          <a:xfrm>
            <a:off x="177917" y="1740473"/>
            <a:ext cx="5918083" cy="276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200" i="1" dirty="0" bmk="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Regions: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Castles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Distances</a:t>
            </a:r>
            <a:endParaRPr lang="en-US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95B08-88A4-476F-F7C5-92FE86BA7DC1}"/>
              </a:ext>
            </a:extLst>
          </p:cNvPr>
          <p:cNvSpPr txBox="1"/>
          <p:nvPr/>
        </p:nvSpPr>
        <p:spPr>
          <a:xfrm>
            <a:off x="6096000" y="1740473"/>
            <a:ext cx="5918082" cy="27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200" i="1" dirty="0" bmk="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Regions: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Churches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Distances</a:t>
            </a:r>
            <a:endParaRPr lang="en-US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72A4B-EF2C-2000-A9AA-3B737552B8D4}"/>
              </a:ext>
            </a:extLst>
          </p:cNvPr>
          <p:cNvSpPr txBox="1"/>
          <p:nvPr/>
        </p:nvSpPr>
        <p:spPr>
          <a:xfrm>
            <a:off x="177917" y="5443975"/>
            <a:ext cx="118361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Notes: Coef. denotes the coefficient of explanatory variables and Std. error represents the heteroscedasticity-robust asymptotic standard error. AR(1) is a serial correlation test of order 1 (and AR(2) of order 2 using residuals in first differences, under the null hypothesis of no serial correlation. Wald (X2 ) is a test of the joint significance of the reported coefficients, under the null hypothesis of no relationship. ***, **, * denote significance at the 1%, 5% and 10% levels, respectively.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152066-20E4-9F80-43B4-BBE7BAF92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725939"/>
              </p:ext>
            </p:extLst>
          </p:nvPr>
        </p:nvGraphicFramePr>
        <p:xfrm>
          <a:off x="73605" y="2017466"/>
          <a:ext cx="6026835" cy="34265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7279">
                  <a:extLst>
                    <a:ext uri="{9D8B030D-6E8A-4147-A177-3AD203B41FA5}">
                      <a16:colId xmlns:a16="http://schemas.microsoft.com/office/drawing/2014/main" val="54360483"/>
                    </a:ext>
                  </a:extLst>
                </a:gridCol>
                <a:gridCol w="946824">
                  <a:extLst>
                    <a:ext uri="{9D8B030D-6E8A-4147-A177-3AD203B41FA5}">
                      <a16:colId xmlns:a16="http://schemas.microsoft.com/office/drawing/2014/main" val="1025798961"/>
                    </a:ext>
                  </a:extLst>
                </a:gridCol>
                <a:gridCol w="946824">
                  <a:extLst>
                    <a:ext uri="{9D8B030D-6E8A-4147-A177-3AD203B41FA5}">
                      <a16:colId xmlns:a16="http://schemas.microsoft.com/office/drawing/2014/main" val="2843753514"/>
                    </a:ext>
                  </a:extLst>
                </a:gridCol>
                <a:gridCol w="946824">
                  <a:extLst>
                    <a:ext uri="{9D8B030D-6E8A-4147-A177-3AD203B41FA5}">
                      <a16:colId xmlns:a16="http://schemas.microsoft.com/office/drawing/2014/main" val="3588476691"/>
                    </a:ext>
                  </a:extLst>
                </a:gridCol>
                <a:gridCol w="946824">
                  <a:extLst>
                    <a:ext uri="{9D8B030D-6E8A-4147-A177-3AD203B41FA5}">
                      <a16:colId xmlns:a16="http://schemas.microsoft.com/office/drawing/2014/main" val="4079671204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4139879267"/>
                    </a:ext>
                  </a:extLst>
                </a:gridCol>
              </a:tblGrid>
              <a:tr h="170760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Dynamic Panel Data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000071"/>
                  </a:ext>
                </a:extLst>
              </a:tr>
              <a:tr h="170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Dependent Variable: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40680"/>
                  </a:ext>
                </a:extLst>
              </a:tr>
              <a:tr h="170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Z-score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249947"/>
                  </a:ext>
                </a:extLst>
              </a:tr>
              <a:tr h="1633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Coef (Std. error)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Coef (Std. error)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Coef (Std. error)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85738"/>
                  </a:ext>
                </a:extLst>
              </a:tr>
              <a:tr h="35088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L.Z-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score_w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1.466  (0.112)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1.471 (0.112)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1.507 (0.115)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1.517  (0.116)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1.521 (0.116)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54920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-0.002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441093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-0.002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215988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-0.001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63831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-0.001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02773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-0.001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4775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lnT w="127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50084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453808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Constant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-0.429 (2.014)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-0.491 (2.016)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-0.773 (2.129)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-0.775 (2.156)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-0.761 (2.166)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79660"/>
                  </a:ext>
                </a:extLst>
              </a:tr>
              <a:tr h="35088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Observations (no. of hotels)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229829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Wald (χ2 )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860.650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861.830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792.310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776.950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771.310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12909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AR(1)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-2.640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-2.660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-2.690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-2.690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-2.700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35712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AR(2)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0.570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0.550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0.280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0.230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0.220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860606"/>
                  </a:ext>
                </a:extLst>
              </a:tr>
              <a:tr h="170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2" marR="67012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3944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E0046E-6935-0F50-848C-5DD620579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083374"/>
              </p:ext>
            </p:extLst>
          </p:nvPr>
        </p:nvGraphicFramePr>
        <p:xfrm>
          <a:off x="6199512" y="2017466"/>
          <a:ext cx="5990715" cy="34264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5648">
                  <a:extLst>
                    <a:ext uri="{9D8B030D-6E8A-4147-A177-3AD203B41FA5}">
                      <a16:colId xmlns:a16="http://schemas.microsoft.com/office/drawing/2014/main" val="3540368337"/>
                    </a:ext>
                  </a:extLst>
                </a:gridCol>
                <a:gridCol w="914065">
                  <a:extLst>
                    <a:ext uri="{9D8B030D-6E8A-4147-A177-3AD203B41FA5}">
                      <a16:colId xmlns:a16="http://schemas.microsoft.com/office/drawing/2014/main" val="2990635708"/>
                    </a:ext>
                  </a:extLst>
                </a:gridCol>
                <a:gridCol w="947402">
                  <a:extLst>
                    <a:ext uri="{9D8B030D-6E8A-4147-A177-3AD203B41FA5}">
                      <a16:colId xmlns:a16="http://schemas.microsoft.com/office/drawing/2014/main" val="1816985256"/>
                    </a:ext>
                  </a:extLst>
                </a:gridCol>
                <a:gridCol w="947402">
                  <a:extLst>
                    <a:ext uri="{9D8B030D-6E8A-4147-A177-3AD203B41FA5}">
                      <a16:colId xmlns:a16="http://schemas.microsoft.com/office/drawing/2014/main" val="443917526"/>
                    </a:ext>
                  </a:extLst>
                </a:gridCol>
                <a:gridCol w="935639">
                  <a:extLst>
                    <a:ext uri="{9D8B030D-6E8A-4147-A177-3AD203B41FA5}">
                      <a16:colId xmlns:a16="http://schemas.microsoft.com/office/drawing/2014/main" val="2344693531"/>
                    </a:ext>
                  </a:extLst>
                </a:gridCol>
                <a:gridCol w="1000559">
                  <a:extLst>
                    <a:ext uri="{9D8B030D-6E8A-4147-A177-3AD203B41FA5}">
                      <a16:colId xmlns:a16="http://schemas.microsoft.com/office/drawing/2014/main" val="1101148048"/>
                    </a:ext>
                  </a:extLst>
                </a:gridCol>
              </a:tblGrid>
              <a:tr h="171251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Dynamic Panel Data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887391"/>
                  </a:ext>
                </a:extLst>
              </a:tr>
              <a:tr h="171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Dependent Variable: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293163"/>
                  </a:ext>
                </a:extLst>
              </a:tr>
              <a:tr h="171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Z-score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487621"/>
                  </a:ext>
                </a:extLst>
              </a:tr>
              <a:tr h="171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189902"/>
                  </a:ext>
                </a:extLst>
              </a:tr>
              <a:tr h="34324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L.Z-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score_w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1.557 (0.113)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1.461 (0.114)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1.462 (0.113)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1.463 (0.113)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1.464 (0.113)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762006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ht_location_church1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-0.012 (0.042)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01404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ht_location_church2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-0.004 (0.001)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997284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ht_location_church3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-0.003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372578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ht_location_church4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-0.003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259684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ht_location_church5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-0.003 (0.000)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244991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991952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47072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Constant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1.671 (3.201)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-0.198 (2.025)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-0.255 (2.025)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-0.236 (2.024)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-0.216 (2.023)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741897"/>
                  </a:ext>
                </a:extLst>
              </a:tr>
              <a:tr h="34324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Observations (no. of hotels)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750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Wald (χ2 )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789.330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842.660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844.700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844.460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845.160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767228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AR(1)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-2.670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-2.580 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-2.590 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-2.600 ***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-2.600 ***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145663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AR(2)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0.460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0.570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0.560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0.560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0.560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941321"/>
                  </a:ext>
                </a:extLst>
              </a:tr>
              <a:tr h="171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01" marR="67301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941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854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9B5D-1F4E-07BE-1589-4CD7FF1A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963589-A098-1CB7-F8FE-78889FF7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96" y="2884861"/>
            <a:ext cx="7876203" cy="979091"/>
          </a:xfrm>
        </p:spPr>
        <p:txBody>
          <a:bodyPr/>
          <a:lstStyle/>
          <a:p>
            <a:r>
              <a:rPr lang="pt-PT" dirty="0" err="1"/>
              <a:t>Conclusion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Future Research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0F2AB8-3CC8-F9F5-8397-3C8E5532CE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5896" y="4137601"/>
            <a:ext cx="8206104" cy="521891"/>
          </a:xfrm>
        </p:spPr>
        <p:txBody>
          <a:bodyPr/>
          <a:lstStyle/>
          <a:p>
            <a:r>
              <a:rPr lang="en-US" dirty="0"/>
              <a:t>Study Conclusions and On-going /Future Work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62E8045-0C50-8BCF-86F4-2405A14EF9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85896" y="1914347"/>
            <a:ext cx="1705828" cy="667308"/>
          </a:xfrm>
        </p:spPr>
        <p:txBody>
          <a:bodyPr/>
          <a:lstStyle/>
          <a:p>
            <a:r>
              <a:rPr lang="pt-PT" b="0" dirty="0"/>
              <a:t>05.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A00DD9-AF53-7672-81AC-5CCEE5FECC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8B0FFE52-F6AA-08F4-BA66-84EF1D9B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fld id="{F5D87A1C-04A5-464D-9747-6D64679AA987}" type="slidenum">
              <a:rPr lang="en-PT" smtClean="0"/>
              <a:pPr/>
              <a:t>13</a:t>
            </a:fld>
            <a:endParaRPr lang="en-P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81F7AD-A613-CDCD-BCEE-9C46F74403B5}"/>
              </a:ext>
            </a:extLst>
          </p:cNvPr>
          <p:cNvSpPr/>
          <p:nvPr/>
        </p:nvSpPr>
        <p:spPr>
          <a:xfrm>
            <a:off x="3985896" y="4659492"/>
            <a:ext cx="6822011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2971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F4BD-007A-9B71-48B6-EE0647D8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0A76C97-0FAB-2141-528C-798220A111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Conclusion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Future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D3099-4D60-FAE2-3132-25584A05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14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E512585-1705-404F-B1D2-62DCB4AEF9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3EEE79A7-8284-1B47-6E82-E6270EA3C5D1}"/>
              </a:ext>
            </a:extLst>
          </p:cNvPr>
          <p:cNvSpPr txBox="1">
            <a:spLocks/>
          </p:cNvSpPr>
          <p:nvPr/>
        </p:nvSpPr>
        <p:spPr>
          <a:xfrm>
            <a:off x="628651" y="1105906"/>
            <a:ext cx="10658048" cy="5168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solidFill>
                  <a:srgbClr val="5C666C"/>
                </a:solidFill>
                <a:latin typeface="+mn-lt"/>
              </a:rPr>
              <a:t>Study Conclusions</a:t>
            </a:r>
            <a:endParaRPr lang="en-US" altLang="en-US" sz="1600" dirty="0">
              <a:solidFill>
                <a:srgbClr val="5C666C"/>
              </a:solidFill>
              <a:latin typeface="+mn-lt"/>
            </a:endParaRPr>
          </a:p>
          <a:p>
            <a:pPr algn="just">
              <a:lnSpc>
                <a:spcPct val="160000"/>
              </a:lnSpc>
            </a:pPr>
            <a:r>
              <a:rPr lang="en-US" sz="1600" dirty="0">
                <a:latin typeface="+mn-lt"/>
              </a:rPr>
              <a:t>Location significantly influences credit risk: hotels nearer to beaches, castles, and churches show lower risk. Specifically, variables </a:t>
            </a:r>
            <a:r>
              <a:rPr lang="en-US" sz="1600" b="1" dirty="0">
                <a:latin typeface="+mn-lt"/>
              </a:rPr>
              <a:t>ht_location_5</a:t>
            </a:r>
            <a:r>
              <a:rPr lang="en-US" sz="1600" dirty="0">
                <a:latin typeface="+mn-lt"/>
              </a:rPr>
              <a:t>, </a:t>
            </a:r>
            <a:r>
              <a:rPr lang="en-US" sz="1600" b="1" dirty="0">
                <a:latin typeface="+mn-lt"/>
              </a:rPr>
              <a:t>ht_location_beach4–5</a:t>
            </a:r>
            <a:r>
              <a:rPr lang="en-US" sz="1600" dirty="0">
                <a:latin typeface="+mn-lt"/>
              </a:rPr>
              <a:t>, </a:t>
            </a:r>
            <a:r>
              <a:rPr lang="en-US" sz="1600" b="1" dirty="0">
                <a:latin typeface="+mn-lt"/>
              </a:rPr>
              <a:t>ht_location_castle1–5</a:t>
            </a:r>
            <a:r>
              <a:rPr lang="en-US" sz="1600" dirty="0">
                <a:latin typeface="+mn-lt"/>
              </a:rPr>
              <a:t>, and </a:t>
            </a:r>
            <a:r>
              <a:rPr lang="en-US" sz="1600" b="1" dirty="0">
                <a:latin typeface="+mn-lt"/>
              </a:rPr>
              <a:t>ht_location_church2–5</a:t>
            </a:r>
            <a:r>
              <a:rPr lang="en-US" sz="1600" dirty="0">
                <a:latin typeface="+mn-lt"/>
              </a:rPr>
              <a:t> were statistically </a:t>
            </a:r>
            <a:r>
              <a:rPr lang="en-US" sz="1600" b="1" dirty="0">
                <a:latin typeface="+mn-lt"/>
              </a:rPr>
              <a:t>significant</a:t>
            </a:r>
            <a:r>
              <a:rPr lang="en-US" sz="1600" dirty="0">
                <a:latin typeface="+mn-lt"/>
              </a:rPr>
              <a:t> across both </a:t>
            </a:r>
            <a:r>
              <a:rPr lang="en-US" sz="1600" b="1" dirty="0">
                <a:latin typeface="+mn-lt"/>
              </a:rPr>
              <a:t>NUTS II and NUTS III levels</a:t>
            </a:r>
            <a:r>
              <a:rPr lang="en-US" sz="1600" dirty="0">
                <a:latin typeface="+mn-lt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+mn-lt"/>
              </a:rPr>
              <a:t>Integrated approach—spatial, financial, and operational factors—</a:t>
            </a:r>
            <a:r>
              <a:rPr lang="en-US" sz="1500" b="1" u="sng" dirty="0">
                <a:latin typeface="+mn-lt"/>
              </a:rPr>
              <a:t>provides a more accurate credit risk evaluation.​</a:t>
            </a:r>
            <a:endParaRPr lang="en-US" sz="1600" b="1" u="sng" dirty="0">
              <a:latin typeface="+mn-lt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solidFill>
                  <a:srgbClr val="5C666C"/>
                </a:solidFill>
                <a:latin typeface="+mn-lt"/>
              </a:rPr>
              <a:t>On-going/Future Work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+mn-lt"/>
              </a:rPr>
              <a:t>Future research </a:t>
            </a:r>
            <a:r>
              <a:rPr lang="en-US" sz="1600" dirty="0">
                <a:latin typeface="+mn-lt"/>
              </a:rPr>
              <a:t>could extend this analysis by incorporating </a:t>
            </a:r>
            <a:r>
              <a:rPr lang="en-US" sz="1600" b="1" dirty="0">
                <a:latin typeface="+mn-lt"/>
              </a:rPr>
              <a:t>alternative credit risk measures such as the Altman-Z-Score</a:t>
            </a:r>
            <a:r>
              <a:rPr lang="en-US" sz="1600" dirty="0">
                <a:latin typeface="+mn-lt"/>
              </a:rPr>
              <a:t> with </a:t>
            </a:r>
            <a:r>
              <a:rPr lang="en-US" sz="1600" b="1" dirty="0">
                <a:latin typeface="+mn-lt"/>
              </a:rPr>
              <a:t>appropriate control variables</a:t>
            </a:r>
            <a:r>
              <a:rPr lang="en-US" sz="1600" dirty="0">
                <a:latin typeface="+mn-lt"/>
              </a:rPr>
              <a:t>, as well as by </a:t>
            </a:r>
            <a:r>
              <a:rPr lang="en-US" sz="1600" b="1" dirty="0">
                <a:latin typeface="+mn-lt"/>
              </a:rPr>
              <a:t>exploring other types of tourist points </a:t>
            </a:r>
            <a:r>
              <a:rPr lang="en-US" sz="1600" dirty="0">
                <a:latin typeface="+mn-lt"/>
              </a:rPr>
              <a:t>to better capture spatial effects. Additionally, future research could </a:t>
            </a:r>
            <a:r>
              <a:rPr lang="en-US" sz="1600" b="1" dirty="0">
                <a:latin typeface="+mn-lt"/>
              </a:rPr>
              <a:t>explore hotel-specific characteristics</a:t>
            </a:r>
            <a:r>
              <a:rPr lang="en-US" sz="1600" dirty="0">
                <a:latin typeface="+mn-lt"/>
              </a:rPr>
              <a:t>—such as the presence of golf facilitates, swimming pools, star ratings, chain affiliation, and diversity of services—</a:t>
            </a:r>
            <a:r>
              <a:rPr lang="en-US" sz="1600" b="1" dirty="0">
                <a:latin typeface="+mn-lt"/>
              </a:rPr>
              <a:t>through interaction effects with location variables using the Z-Score </a:t>
            </a:r>
            <a:r>
              <a:rPr lang="en-US" sz="1600" dirty="0">
                <a:latin typeface="+mn-lt"/>
              </a:rPr>
              <a:t>could further clarify their impact on credit risk. Finally, future research could extend this analysis to study </a:t>
            </a:r>
            <a:r>
              <a:rPr lang="en-US" sz="1600" b="1" dirty="0">
                <a:latin typeface="+mn-lt"/>
              </a:rPr>
              <a:t>how do interactions change over hotel lifecycle</a:t>
            </a:r>
            <a:r>
              <a:rPr lang="en-US" sz="1600" dirty="0">
                <a:latin typeface="+mn-lt"/>
              </a:rPr>
              <a:t> and </a:t>
            </a:r>
            <a:r>
              <a:rPr lang="en-US" sz="1600" b="1" dirty="0">
                <a:latin typeface="+mn-lt"/>
              </a:rPr>
              <a:t>how do interactions vary by country/region</a:t>
            </a:r>
            <a:r>
              <a:rPr lang="en-US" sz="1600" dirty="0">
                <a:latin typeface="+mn-lt"/>
              </a:rPr>
              <a:t>, as well as the </a:t>
            </a:r>
            <a:r>
              <a:rPr lang="en-US" sz="1600" b="1" dirty="0">
                <a:latin typeface="+mn-lt"/>
              </a:rPr>
              <a:t>COVID impact </a:t>
            </a:r>
            <a:r>
              <a:rPr lang="en-US" sz="1600" dirty="0">
                <a:latin typeface="+mn-lt"/>
              </a:rPr>
              <a:t>in altering </a:t>
            </a:r>
            <a:r>
              <a:rPr lang="en-US" sz="1600" b="1" dirty="0">
                <a:latin typeface="+mn-lt"/>
              </a:rPr>
              <a:t>interaction patterns</a:t>
            </a:r>
            <a:r>
              <a:rPr lang="en-US" sz="16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9128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251A-276B-40A6-4183-99C570CF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FD71C-4A66-55B5-1295-8D528118E2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PT" dirty="0" err="1"/>
              <a:t>Thank</a:t>
            </a:r>
            <a:r>
              <a:rPr lang="pt-PT" dirty="0"/>
              <a:t> </a:t>
            </a:r>
            <a:r>
              <a:rPr lang="pt-PT" dirty="0" err="1"/>
              <a:t>you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0113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DE63-9BA1-F508-AF5D-A1F8E56B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3F49AF7-C6C8-DA35-AF53-9F6CFEE6D5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Annex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D5BF0-F153-D044-471E-738A3D49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16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6AE14D9-0893-06B9-486D-C8E79BFAE5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39306-05C7-575B-0B98-CC80CF95945B}"/>
              </a:ext>
            </a:extLst>
          </p:cNvPr>
          <p:cNvSpPr txBox="1"/>
          <p:nvPr/>
        </p:nvSpPr>
        <p:spPr>
          <a:xfrm>
            <a:off x="177917" y="1740473"/>
            <a:ext cx="60579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200" i="1" dirty="0" bmk="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III</a:t>
            </a:r>
            <a:r>
              <a:rPr 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Regions: </a:t>
            </a:r>
            <a:r>
              <a:rPr lang="en-US" sz="1200" b="1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Location Distances</a:t>
            </a:r>
            <a:endParaRPr lang="en-US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06B7E6-7A9A-63E0-9E7D-F03E012789D9}"/>
              </a:ext>
            </a:extLst>
          </p:cNvPr>
          <p:cNvSpPr txBox="1"/>
          <p:nvPr/>
        </p:nvSpPr>
        <p:spPr>
          <a:xfrm>
            <a:off x="6096000" y="1740473"/>
            <a:ext cx="5918082" cy="27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200" i="1" dirty="0" bmk="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III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Regions: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Beaches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Distances</a:t>
            </a:r>
            <a:endParaRPr lang="en-US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808D0-1D03-6288-6ABA-0CCE5558E4C0}"/>
              </a:ext>
            </a:extLst>
          </p:cNvPr>
          <p:cNvSpPr txBox="1"/>
          <p:nvPr/>
        </p:nvSpPr>
        <p:spPr>
          <a:xfrm>
            <a:off x="177917" y="5443975"/>
            <a:ext cx="118361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Notes: Coef. denotes the coefficient of explanatory variables and Std. error represents the heteroscedasticity-robust asymptotic standard error. AR(1) is a serial correlation test of order 1 (and AR(2) of order 2 using residuals in first differences, under the null hypothesis of no serial correlation. Wald (X2 ) is a test of the joint significance of the reported coefficients, under the null hypothesis of no relationship. ***, **, * denote significance at the 1%, 5% and 10% levels, respectively.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C445BE-3AA7-AD32-1BCE-B2ECCEED2911}"/>
              </a:ext>
            </a:extLst>
          </p:cNvPr>
          <p:cNvGraphicFramePr>
            <a:graphicFrameLocks noGrp="1"/>
          </p:cNvGraphicFramePr>
          <p:nvPr/>
        </p:nvGraphicFramePr>
        <p:xfrm>
          <a:off x="177917" y="2160743"/>
          <a:ext cx="6086009" cy="3243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4523">
                  <a:extLst>
                    <a:ext uri="{9D8B030D-6E8A-4147-A177-3AD203B41FA5}">
                      <a16:colId xmlns:a16="http://schemas.microsoft.com/office/drawing/2014/main" val="3036387049"/>
                    </a:ext>
                  </a:extLst>
                </a:gridCol>
                <a:gridCol w="899425">
                  <a:extLst>
                    <a:ext uri="{9D8B030D-6E8A-4147-A177-3AD203B41FA5}">
                      <a16:colId xmlns:a16="http://schemas.microsoft.com/office/drawing/2014/main" val="1240494991"/>
                    </a:ext>
                  </a:extLst>
                </a:gridCol>
                <a:gridCol w="899425">
                  <a:extLst>
                    <a:ext uri="{9D8B030D-6E8A-4147-A177-3AD203B41FA5}">
                      <a16:colId xmlns:a16="http://schemas.microsoft.com/office/drawing/2014/main" val="477951009"/>
                    </a:ext>
                  </a:extLst>
                </a:gridCol>
                <a:gridCol w="899425">
                  <a:extLst>
                    <a:ext uri="{9D8B030D-6E8A-4147-A177-3AD203B41FA5}">
                      <a16:colId xmlns:a16="http://schemas.microsoft.com/office/drawing/2014/main" val="676874598"/>
                    </a:ext>
                  </a:extLst>
                </a:gridCol>
                <a:gridCol w="899425">
                  <a:extLst>
                    <a:ext uri="{9D8B030D-6E8A-4147-A177-3AD203B41FA5}">
                      <a16:colId xmlns:a16="http://schemas.microsoft.com/office/drawing/2014/main" val="1773856667"/>
                    </a:ext>
                  </a:extLst>
                </a:gridCol>
                <a:gridCol w="1083786">
                  <a:extLst>
                    <a:ext uri="{9D8B030D-6E8A-4147-A177-3AD203B41FA5}">
                      <a16:colId xmlns:a16="http://schemas.microsoft.com/office/drawing/2014/main" val="1896270454"/>
                    </a:ext>
                  </a:extLst>
                </a:gridCol>
              </a:tblGrid>
              <a:tr h="175373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Dynamic Panel Data</a:t>
                      </a: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6025"/>
                  </a:ext>
                </a:extLst>
              </a:tr>
              <a:tr h="1773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Dependent Variable: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122531"/>
                  </a:ext>
                </a:extLst>
              </a:tr>
              <a:tr h="1773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Z-score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483713"/>
                  </a:ext>
                </a:extLst>
              </a:tr>
              <a:tr h="194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735067"/>
                  </a:ext>
                </a:extLst>
              </a:tr>
              <a:tr h="19458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L.Z-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score_w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1.571 (0.136)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1.574 (0.136)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1.589 (0.133)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1.450 (0.173)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1.439 (0.151)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353838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ht_location_1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0.007 (0.048)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746642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ht_location_2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0.009 (0.049)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756414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ht_location_3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0.022 (0.053)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424436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ht_location_4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-0.075 (0.052)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861764"/>
                  </a:ext>
                </a:extLst>
              </a:tr>
              <a:tr h="19458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ht_location_5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-0.010  (0.003)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53356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577583"/>
                  </a:ext>
                </a:extLst>
              </a:tr>
              <a:tr h="1784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21008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Constant  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0.558 (2.482)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0.478 (2.512)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0.002 (2.667)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3.369 (3.148)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1.433 (2.416)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21959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Observations (no. of hotels)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588597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Wald (χ2 )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709.930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719.300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760.260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436.880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503.750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315117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AR(1)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-2.730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-2.810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-2.920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-2.050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-2.090 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477929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AR(2)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0.120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0.130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0.200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-0.340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-0.060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826170"/>
                  </a:ext>
                </a:extLst>
              </a:tr>
              <a:tr h="17737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565" marR="175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3571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A5B7C0-A63C-907C-A0AC-D18F40697F16}"/>
              </a:ext>
            </a:extLst>
          </p:cNvPr>
          <p:cNvGraphicFramePr>
            <a:graphicFrameLocks noGrp="1"/>
          </p:cNvGraphicFramePr>
          <p:nvPr/>
        </p:nvGraphicFramePr>
        <p:xfrm>
          <a:off x="6430779" y="2160743"/>
          <a:ext cx="5583304" cy="32832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5284">
                  <a:extLst>
                    <a:ext uri="{9D8B030D-6E8A-4147-A177-3AD203B41FA5}">
                      <a16:colId xmlns:a16="http://schemas.microsoft.com/office/drawing/2014/main" val="344650279"/>
                    </a:ext>
                  </a:extLst>
                </a:gridCol>
                <a:gridCol w="778578">
                  <a:extLst>
                    <a:ext uri="{9D8B030D-6E8A-4147-A177-3AD203B41FA5}">
                      <a16:colId xmlns:a16="http://schemas.microsoft.com/office/drawing/2014/main" val="978562398"/>
                    </a:ext>
                  </a:extLst>
                </a:gridCol>
                <a:gridCol w="778578">
                  <a:extLst>
                    <a:ext uri="{9D8B030D-6E8A-4147-A177-3AD203B41FA5}">
                      <a16:colId xmlns:a16="http://schemas.microsoft.com/office/drawing/2014/main" val="2044090354"/>
                    </a:ext>
                  </a:extLst>
                </a:gridCol>
                <a:gridCol w="778578">
                  <a:extLst>
                    <a:ext uri="{9D8B030D-6E8A-4147-A177-3AD203B41FA5}">
                      <a16:colId xmlns:a16="http://schemas.microsoft.com/office/drawing/2014/main" val="733479095"/>
                    </a:ext>
                  </a:extLst>
                </a:gridCol>
                <a:gridCol w="778578">
                  <a:extLst>
                    <a:ext uri="{9D8B030D-6E8A-4147-A177-3AD203B41FA5}">
                      <a16:colId xmlns:a16="http://schemas.microsoft.com/office/drawing/2014/main" val="4249447871"/>
                    </a:ext>
                  </a:extLst>
                </a:gridCol>
                <a:gridCol w="1243708">
                  <a:extLst>
                    <a:ext uri="{9D8B030D-6E8A-4147-A177-3AD203B41FA5}">
                      <a16:colId xmlns:a16="http://schemas.microsoft.com/office/drawing/2014/main" val="987033128"/>
                    </a:ext>
                  </a:extLst>
                </a:gridCol>
              </a:tblGrid>
              <a:tr h="168859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Dynamic Panel Data</a:t>
                      </a: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533718"/>
                  </a:ext>
                </a:extLst>
              </a:tr>
              <a:tr h="1688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Dependent Variable:</a:t>
                      </a: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006432"/>
                  </a:ext>
                </a:extLst>
              </a:tr>
              <a:tr h="1688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Z-score</a:t>
                      </a: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58547"/>
                  </a:ext>
                </a:extLst>
              </a:tr>
              <a:tr h="1688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21629"/>
                  </a:ext>
                </a:extLst>
              </a:tr>
              <a:tr h="20232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L.Z-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score_w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1.604 (0.116)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1.602 (0.115)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1.576 (0.118)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1.485 (0.150)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1.469 (0.148)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668948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0.034 (0.017) 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30889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ht_location_beach2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0.034 (0.018) 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29588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ht_location_beach3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0.013 (0.017)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02784"/>
                  </a:ext>
                </a:extLst>
              </a:tr>
              <a:tr h="20232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ht_location_beach4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-0.014 (0.006)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687649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ht_location_beach5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-0.006  (0.002)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3536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52462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901848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Constant  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-1.080 (2.112)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-0.982 (2.103)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0.000 (2.172)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1.739 (2.466)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1.338 (2.397)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72305"/>
                  </a:ext>
                </a:extLst>
              </a:tr>
              <a:tr h="3456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Observations (no. of hotels)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845566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Wald (χ2 )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806.440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821.470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760.210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490.990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509.860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70547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AR(1)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-2.830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-2.770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-2.660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-2.220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-2.200 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65422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AR(2)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0.370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0.470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0.300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-0.290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-0.160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9533"/>
                  </a:ext>
                </a:extLst>
              </a:tr>
              <a:tr h="168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3" marR="9383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34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779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E3BB-1449-1AE5-0C8E-EA9EC686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CFD8B49-36B1-25C1-A652-828515F0EE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Annex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D97B8-865D-3C0C-62E4-FA8BEBB8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17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FCAD4BF-6C37-7015-DE55-E4AA6DB131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7E3F4-AA64-FE0A-3B89-6076E0264FB5}"/>
              </a:ext>
            </a:extLst>
          </p:cNvPr>
          <p:cNvSpPr txBox="1"/>
          <p:nvPr/>
        </p:nvSpPr>
        <p:spPr>
          <a:xfrm>
            <a:off x="177917" y="1740473"/>
            <a:ext cx="5918083" cy="276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200" i="1" dirty="0" bmk="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III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Regions: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Castles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Distances</a:t>
            </a:r>
            <a:endParaRPr lang="en-US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F4AD65-CD8A-16BD-E990-7FB6520D94D0}"/>
              </a:ext>
            </a:extLst>
          </p:cNvPr>
          <p:cNvSpPr txBox="1"/>
          <p:nvPr/>
        </p:nvSpPr>
        <p:spPr>
          <a:xfrm>
            <a:off x="6096000" y="1740473"/>
            <a:ext cx="5918082" cy="27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200" i="1" dirty="0" bmk="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 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en-US" sz="1200" i="1" dirty="0" bmk="_Toc203240688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Credit Risk in Portugal’s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NUTS III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Regions: </a:t>
            </a: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Churches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Distances</a:t>
            </a:r>
            <a:endParaRPr lang="en-US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5CF386-77B0-2E59-DE97-BE8DFF77C493}"/>
              </a:ext>
            </a:extLst>
          </p:cNvPr>
          <p:cNvSpPr txBox="1"/>
          <p:nvPr/>
        </p:nvSpPr>
        <p:spPr>
          <a:xfrm>
            <a:off x="177917" y="5443975"/>
            <a:ext cx="118361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Notes: Coef. denotes the coefficient of explanatory variables and Std. error represents the heteroscedasticity-robust asymptotic standard error. AR(1) is a serial correlation test of order 1 (and AR(2) of order 2 using residuals in first differences, under the null hypothesis of no serial correlation. Wald (X2 ) is a test of the joint significance of the reported coefficients, under the null hypothesis of no relationship. ***, **, * denote significance at the 1%, 5% and 10% levels, respectively.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F04698-2385-956B-919D-C09D860A7090}"/>
              </a:ext>
            </a:extLst>
          </p:cNvPr>
          <p:cNvGraphicFramePr>
            <a:graphicFrameLocks noGrp="1"/>
          </p:cNvGraphicFramePr>
          <p:nvPr/>
        </p:nvGraphicFramePr>
        <p:xfrm>
          <a:off x="177917" y="2057346"/>
          <a:ext cx="5885010" cy="33528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1456">
                  <a:extLst>
                    <a:ext uri="{9D8B030D-6E8A-4147-A177-3AD203B41FA5}">
                      <a16:colId xmlns:a16="http://schemas.microsoft.com/office/drawing/2014/main" val="3804680990"/>
                    </a:ext>
                  </a:extLst>
                </a:gridCol>
                <a:gridCol w="934268">
                  <a:extLst>
                    <a:ext uri="{9D8B030D-6E8A-4147-A177-3AD203B41FA5}">
                      <a16:colId xmlns:a16="http://schemas.microsoft.com/office/drawing/2014/main" val="1826719430"/>
                    </a:ext>
                  </a:extLst>
                </a:gridCol>
                <a:gridCol w="934268">
                  <a:extLst>
                    <a:ext uri="{9D8B030D-6E8A-4147-A177-3AD203B41FA5}">
                      <a16:colId xmlns:a16="http://schemas.microsoft.com/office/drawing/2014/main" val="3924010736"/>
                    </a:ext>
                  </a:extLst>
                </a:gridCol>
                <a:gridCol w="900931">
                  <a:extLst>
                    <a:ext uri="{9D8B030D-6E8A-4147-A177-3AD203B41FA5}">
                      <a16:colId xmlns:a16="http://schemas.microsoft.com/office/drawing/2014/main" val="3274392824"/>
                    </a:ext>
                  </a:extLst>
                </a:gridCol>
                <a:gridCol w="900931">
                  <a:extLst>
                    <a:ext uri="{9D8B030D-6E8A-4147-A177-3AD203B41FA5}">
                      <a16:colId xmlns:a16="http://schemas.microsoft.com/office/drawing/2014/main" val="2728723552"/>
                    </a:ext>
                  </a:extLst>
                </a:gridCol>
                <a:gridCol w="923156">
                  <a:extLst>
                    <a:ext uri="{9D8B030D-6E8A-4147-A177-3AD203B41FA5}">
                      <a16:colId xmlns:a16="http://schemas.microsoft.com/office/drawing/2014/main" val="3589571721"/>
                    </a:ext>
                  </a:extLst>
                </a:gridCol>
              </a:tblGrid>
              <a:tr h="164293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Dynamic Panel Data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805435"/>
                  </a:ext>
                </a:extLst>
              </a:tr>
              <a:tr h="1642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Dependent Variable: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054212"/>
                  </a:ext>
                </a:extLst>
              </a:tr>
              <a:tr h="1642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Z-score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992137"/>
                  </a:ext>
                </a:extLst>
              </a:tr>
              <a:tr h="1642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111742"/>
                  </a:ext>
                </a:extLst>
              </a:tr>
              <a:tr h="23392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L.Z-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score_w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1.452 (0.146)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1.460 (0.144)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1.511 (0.139)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1.522 (0.137)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1.526 (0.137)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490109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-0.002 (0.000)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186976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ht_location_castle2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-0.002 (0.000)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830148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ht_location_castle3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-0.001 (0.000)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888522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ht_location_castle4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-0.001 (0.000) 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152854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ht_location_castle5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-0.001  (0.000) 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234010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132743"/>
                  </a:ext>
                </a:extLst>
              </a:tr>
              <a:tr h="1653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8022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Constant  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0.958 (2.343)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0.840 (2.327)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0.170 (2.289)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0.065 (2.282)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0.035 (2.277)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887858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Observations (no. of hotels)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54117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Wald (χ2 )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531.150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537.820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559.340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565.440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568.740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62610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AR(1)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-2.160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-2.190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-2.380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-2.410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-2.430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998774"/>
                  </a:ext>
                </a:extLst>
              </a:tr>
              <a:tr h="1642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AR(2)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-0.010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-0.030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-0.160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-0.170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-0.180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404027"/>
                  </a:ext>
                </a:extLst>
              </a:tr>
              <a:tr h="31362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34" marR="60734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2874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ABF8C9-23DC-DB6A-B7C4-BC83A1DB37D6}"/>
              </a:ext>
            </a:extLst>
          </p:cNvPr>
          <p:cNvGraphicFramePr>
            <a:graphicFrameLocks noGrp="1"/>
          </p:cNvGraphicFramePr>
          <p:nvPr/>
        </p:nvGraphicFramePr>
        <p:xfrm>
          <a:off x="6154476" y="2057346"/>
          <a:ext cx="5918083" cy="33528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7098">
                  <a:extLst>
                    <a:ext uri="{9D8B030D-6E8A-4147-A177-3AD203B41FA5}">
                      <a16:colId xmlns:a16="http://schemas.microsoft.com/office/drawing/2014/main" val="1739046681"/>
                    </a:ext>
                  </a:extLst>
                </a:gridCol>
                <a:gridCol w="827795">
                  <a:extLst>
                    <a:ext uri="{9D8B030D-6E8A-4147-A177-3AD203B41FA5}">
                      <a16:colId xmlns:a16="http://schemas.microsoft.com/office/drawing/2014/main" val="3453140157"/>
                    </a:ext>
                  </a:extLst>
                </a:gridCol>
                <a:gridCol w="860711">
                  <a:extLst>
                    <a:ext uri="{9D8B030D-6E8A-4147-A177-3AD203B41FA5}">
                      <a16:colId xmlns:a16="http://schemas.microsoft.com/office/drawing/2014/main" val="806946529"/>
                    </a:ext>
                  </a:extLst>
                </a:gridCol>
                <a:gridCol w="883752">
                  <a:extLst>
                    <a:ext uri="{9D8B030D-6E8A-4147-A177-3AD203B41FA5}">
                      <a16:colId xmlns:a16="http://schemas.microsoft.com/office/drawing/2014/main" val="923216313"/>
                    </a:ext>
                  </a:extLst>
                </a:gridCol>
                <a:gridCol w="883752">
                  <a:extLst>
                    <a:ext uri="{9D8B030D-6E8A-4147-A177-3AD203B41FA5}">
                      <a16:colId xmlns:a16="http://schemas.microsoft.com/office/drawing/2014/main" val="313289595"/>
                    </a:ext>
                  </a:extLst>
                </a:gridCol>
                <a:gridCol w="1184975">
                  <a:extLst>
                    <a:ext uri="{9D8B030D-6E8A-4147-A177-3AD203B41FA5}">
                      <a16:colId xmlns:a16="http://schemas.microsoft.com/office/drawing/2014/main" val="4122148624"/>
                    </a:ext>
                  </a:extLst>
                </a:gridCol>
              </a:tblGrid>
              <a:tr h="168279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Variables0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Dynamic Panel Data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197501"/>
                  </a:ext>
                </a:extLst>
              </a:tr>
              <a:tr h="1682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Dependent Variable: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034463"/>
                  </a:ext>
                </a:extLst>
              </a:tr>
              <a:tr h="1682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Z-score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753697"/>
                  </a:ext>
                </a:extLst>
              </a:tr>
              <a:tr h="1665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Coef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 (Std. error)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25174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L.Z-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</a:rPr>
                        <a:t>score_w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1.562 (0.122)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1.445 (0.148)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1.447 (0.148)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1.448 (0.147)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1.449 (0.147) ***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196513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 ht_location_church1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-0.004 (0.037)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319596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 ht_location_church2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-0.004 (0.001)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780321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 ht_location_church3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-0.003  (0.001)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28092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 ht_location_church4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-0.003  (0.001)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041834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 ht_location_church5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-0.003  (0.001)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873301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Control Variables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482295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Year Control</a:t>
                      </a:r>
                      <a:endParaRPr lang="en-US" sz="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</a:rPr>
                        <a:t>Y</a:t>
                      </a:r>
                      <a:endParaRPr lang="en-US" sz="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85" marR="60185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780675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effectLst/>
                        </a:rPr>
                        <a:t>Constant  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0.559 (2.685)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1.292 (2.375)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1.221 (2.368)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1.220 (2.368)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1.214 (2.366)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289266"/>
                  </a:ext>
                </a:extLst>
              </a:tr>
              <a:tr h="3445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Observations (no. of hotels)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941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8293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effectLst/>
                        </a:rPr>
                        <a:t>Wald (χ2 )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700.160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519.750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522.120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522.170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522.540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53658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AR(1)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-2.680 ***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-2.100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-2.110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-2.110 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-2.120 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099775"/>
                  </a:ext>
                </a:extLst>
              </a:tr>
              <a:tr h="1682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effectLst/>
                        </a:rPr>
                        <a:t>AR(2)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0.110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-0.000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-0.010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-0.010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14774"/>
                  </a:ext>
                </a:extLst>
              </a:tr>
              <a:tr h="3176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</a:rPr>
                        <a:t>No. instruments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36" marR="30936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772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02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D838-255D-E978-E281-DC43E21F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0F0CF40-812E-67CB-300B-AC8D592E0B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References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88BBD-EE60-29F5-E38D-C9814D74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18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E1AECF7-1300-C017-6F84-90B55FBD88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D202A911-2FAB-C850-3161-3840186CBB2B}"/>
              </a:ext>
            </a:extLst>
          </p:cNvPr>
          <p:cNvSpPr txBox="1">
            <a:spLocks/>
          </p:cNvSpPr>
          <p:nvPr/>
        </p:nvSpPr>
        <p:spPr>
          <a:xfrm>
            <a:off x="643641" y="1302565"/>
            <a:ext cx="10344150" cy="51681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+mn-lt"/>
              </a:rPr>
              <a:t>Adhikari, B., Kavanagh, M., &amp; Hampson, B. (2023). A comparative analysis of the financial performance of commercial banks after mergers and acquisitions using Nepalese data. </a:t>
            </a:r>
            <a:r>
              <a:rPr lang="en-US" sz="1400" i="1" dirty="0">
                <a:latin typeface="+mn-lt"/>
              </a:rPr>
              <a:t>Central Bank Review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23</a:t>
            </a:r>
            <a:r>
              <a:rPr lang="en-US" sz="1400" dirty="0">
                <a:latin typeface="+mn-lt"/>
              </a:rPr>
              <a:t>(3), 100128.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https://doi.org/10.1016/j.cbrev.2023.100128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Alvarez Leon, I., Cavallin, A., &amp; Louzao, N. (2021). City or beach hotel? Location as a determinant of customer satisfaction and room rate. </a:t>
            </a:r>
            <a:r>
              <a:rPr lang="en-US" sz="1400" i="1" dirty="0">
                <a:latin typeface="+mn-lt"/>
              </a:rPr>
              <a:t>International Journal of Tourism Cities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7</a:t>
            </a:r>
            <a:r>
              <a:rPr lang="en-US" sz="1400" dirty="0">
                <a:latin typeface="+mn-lt"/>
              </a:rPr>
              <a:t>(2), 278–293.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https://doi.org/10.1108/ijtc-07-2020-0142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Ang, J., Peterson, P., &amp; Peterson, D. (1985). Investigations into the Determinants of Risk: A New Look. </a:t>
            </a:r>
            <a:r>
              <a:rPr lang="en-US" sz="1400" i="1" dirty="0">
                <a:latin typeface="+mn-lt"/>
              </a:rPr>
              <a:t>Quarterly Journal of Business and Economics, 24</a:t>
            </a:r>
            <a:r>
              <a:rPr lang="en-US" sz="1400" dirty="0">
                <a:latin typeface="+mn-lt"/>
              </a:rPr>
              <a:t>(1), 3–20.</a:t>
            </a:r>
            <a:r>
              <a:rPr lang="en-US" sz="1400" dirty="0">
                <a:solidFill>
                  <a:srgbClr val="5C666C"/>
                </a:solidFill>
                <a:latin typeface="+mn-lt"/>
              </a:rPr>
              <a:t> </a:t>
            </a:r>
            <a:r>
              <a:rPr lang="en-US" sz="1400" u="sng" dirty="0">
                <a:solidFill>
                  <a:srgbClr val="5C666C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http://www.jstor.org/stable/40472802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Chen, C.-M., &amp; Chang, K.-L. (2012). Diversification strategy and financial performance in the Taiwanese hotel industry. </a:t>
            </a:r>
            <a:r>
              <a:rPr lang="en-US" sz="1400" i="1" dirty="0">
                <a:latin typeface="+mn-lt"/>
              </a:rPr>
              <a:t>International Journal of Hospitality Management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31</a:t>
            </a:r>
            <a:r>
              <a:rPr lang="en-US" sz="1400" dirty="0">
                <a:latin typeface="+mn-lt"/>
              </a:rPr>
              <a:t>(3), 1030–1032.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https://doi.org/10.1016/j.ijhm.2011.10.003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Chen, M.-H. (2013). Risk Determinants of China’s Hotel Industry. </a:t>
            </a:r>
            <a:r>
              <a:rPr lang="en-US" sz="1400" i="1" dirty="0">
                <a:latin typeface="+mn-lt"/>
              </a:rPr>
              <a:t>Tourism Economics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19</a:t>
            </a:r>
            <a:r>
              <a:rPr lang="en-US" sz="1400" dirty="0">
                <a:latin typeface="+mn-lt"/>
              </a:rPr>
              <a:t>(1), 77–99.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https://doi.org/10.5367/te.2013.0183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 err="1">
                <a:latin typeface="+mn-lt"/>
              </a:rPr>
              <a:t>Devesa</a:t>
            </a:r>
            <a:r>
              <a:rPr lang="en-US" sz="1400" dirty="0">
                <a:latin typeface="+mn-lt"/>
              </a:rPr>
              <a:t>, M. J. S., &amp; Peñalver, L. F. M. (2013). </a:t>
            </a:r>
            <a:r>
              <a:rPr lang="en-US" sz="1400" i="1" dirty="0">
                <a:latin typeface="+mn-lt"/>
              </a:rPr>
              <a:t>Research Note:</a:t>
            </a:r>
            <a:r>
              <a:rPr lang="en-US" sz="1400" dirty="0">
                <a:latin typeface="+mn-lt"/>
              </a:rPr>
              <a:t> Size, Efficiency and Productivity in the Spanish Hotel Industry—Independent Properties versus Chain-Affiliated Hotels. </a:t>
            </a:r>
            <a:r>
              <a:rPr lang="en-US" sz="1400" i="1" dirty="0">
                <a:latin typeface="+mn-lt"/>
              </a:rPr>
              <a:t>Tourism Economics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19</a:t>
            </a:r>
            <a:r>
              <a:rPr lang="en-US" sz="1400" dirty="0">
                <a:latin typeface="+mn-lt"/>
              </a:rPr>
              <a:t>(4), 801–809.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https://doi.org/10.5367/te.2013.0320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J. Sánchez-Sánchez, F., &amp; M. Sánchez-Sánchez, A. (2025). Hotel profitability in Spain: Impact of the location of tourist destinations. Tourism and Hospitality Management, 31(1), 17–35. </a:t>
            </a:r>
            <a:r>
              <a:rPr lang="en-US" sz="1400" u="sng" dirty="0">
                <a:solidFill>
                  <a:srgbClr val="5C666C"/>
                </a:solidFill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https://doi.org/10.20867/thm.31.1.2</a:t>
            </a:r>
            <a:endParaRPr lang="en-US" sz="1400" u="sng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Kim, H., Gu, Z., &amp; Mattila, A. S. (2002). Hotel Real Estate Investment Trusts’ Risk Features and Beta Determinants. </a:t>
            </a:r>
            <a:r>
              <a:rPr lang="en-US" sz="1400" i="1" dirty="0">
                <a:latin typeface="+mn-lt"/>
              </a:rPr>
              <a:t>Journal of Hospitality &amp; Tourism Research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26</a:t>
            </a:r>
            <a:r>
              <a:rPr lang="en-US" sz="1400" dirty="0">
                <a:latin typeface="+mn-lt"/>
              </a:rPr>
              <a:t>(2), 138–154.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https://doi.org/10.1177/1096348002026002004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Kim, H., Kim, J., &amp; Gu, Z. (2012). An examination of US hotel firms’ risk features and their determinants of systematic risk. </a:t>
            </a:r>
            <a:r>
              <a:rPr lang="en-US" sz="1400" i="1" dirty="0">
                <a:latin typeface="+mn-lt"/>
              </a:rPr>
              <a:t>International Journal of Tourism Research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14</a:t>
            </a:r>
            <a:r>
              <a:rPr lang="en-US" sz="1400" dirty="0">
                <a:latin typeface="+mn-lt"/>
              </a:rPr>
              <a:t>(1), 28–39.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https://doi.org/10.1002/jtr.828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7105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C71E-89CC-4796-50A3-1F86E82F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B8353A-9FFA-79AB-7198-F817A296A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References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4F514-BBAF-E363-8E80-53155EDC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19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7B5655-B87F-42FC-BFB2-ADE598CA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BFE167AD-CE32-F81C-941C-DEAB67875DD7}"/>
              </a:ext>
            </a:extLst>
          </p:cNvPr>
          <p:cNvSpPr txBox="1">
            <a:spLocks/>
          </p:cNvSpPr>
          <p:nvPr/>
        </p:nvSpPr>
        <p:spPr>
          <a:xfrm>
            <a:off x="628650" y="1507627"/>
            <a:ext cx="10658048" cy="51681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+mn-lt"/>
              </a:rPr>
              <a:t>Kim, W. G., Ryan, B., &amp; </a:t>
            </a:r>
            <a:r>
              <a:rPr lang="en-US" sz="1400" dirty="0" err="1">
                <a:latin typeface="+mn-lt"/>
              </a:rPr>
              <a:t>Ceschini</a:t>
            </a:r>
            <a:r>
              <a:rPr lang="en-US" sz="1400" dirty="0">
                <a:latin typeface="+mn-lt"/>
              </a:rPr>
              <a:t>, S. (2007). Factors Affecting Systematic Risk in the US Restaurant Industry. </a:t>
            </a:r>
            <a:r>
              <a:rPr lang="en-US" sz="1400" i="1" dirty="0">
                <a:latin typeface="+mn-lt"/>
              </a:rPr>
              <a:t>Tourism Economics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13</a:t>
            </a:r>
            <a:r>
              <a:rPr lang="en-US" sz="1400" dirty="0">
                <a:latin typeface="+mn-lt"/>
              </a:rPr>
              <a:t>(2), 197–208.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https://doi.org/10.5367/000000007780823131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Lado-</a:t>
            </a:r>
            <a:r>
              <a:rPr lang="en-US" sz="1400" dirty="0" err="1">
                <a:latin typeface="+mn-lt"/>
              </a:rPr>
              <a:t>Sestayo</a:t>
            </a:r>
            <a:r>
              <a:rPr lang="en-US" sz="1400" dirty="0">
                <a:latin typeface="+mn-lt"/>
              </a:rPr>
              <a:t>, R., Otero-González, L., Vivel-</a:t>
            </a:r>
            <a:r>
              <a:rPr lang="en-US" sz="1400" dirty="0" err="1">
                <a:latin typeface="+mn-lt"/>
              </a:rPr>
              <a:t>Búa</a:t>
            </a:r>
            <a:r>
              <a:rPr lang="en-US" sz="1400" dirty="0">
                <a:latin typeface="+mn-lt"/>
              </a:rPr>
              <a:t>, M., &amp; Martorell-Cunill, O. (2016). Impact of location on profitability in the Spanish hotel sector. </a:t>
            </a:r>
            <a:r>
              <a:rPr lang="en-US" sz="1400" i="1" dirty="0">
                <a:latin typeface="+mn-lt"/>
              </a:rPr>
              <a:t>Tourism Management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52</a:t>
            </a:r>
            <a:r>
              <a:rPr lang="en-US" sz="1400" dirty="0">
                <a:latin typeface="+mn-lt"/>
              </a:rPr>
              <a:t>, 405–415.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https://doi.org/10.1016/j.tourman.2015.07.011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pt-BR" sz="1400" dirty="0">
                <a:latin typeface="+mn-lt"/>
              </a:rPr>
              <a:t>Lado-Sestayo, R., Vivel-Búa, M., &amp; Otero-González, L. (2016). </a:t>
            </a:r>
            <a:r>
              <a:rPr lang="en-US" sz="1400" dirty="0">
                <a:latin typeface="+mn-lt"/>
              </a:rPr>
              <a:t>Survival in the lodging sector: An analysis at the firm and location levels. </a:t>
            </a:r>
            <a:r>
              <a:rPr lang="en-US" sz="1400" i="1" dirty="0">
                <a:latin typeface="+mn-lt"/>
              </a:rPr>
              <a:t>International Journal of Hospitality Management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59</a:t>
            </a:r>
            <a:r>
              <a:rPr lang="en-US" sz="1400" dirty="0">
                <a:latin typeface="+mn-lt"/>
              </a:rPr>
              <a:t>, 19–30.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https://doi.org/10.1016/j.ijhm.2016.08.005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pt-BR" sz="1400" dirty="0">
                <a:latin typeface="+mn-lt"/>
              </a:rPr>
              <a:t>Lado-Sestayo, R., Vivel-Búa, M., &amp; Otero-González, L. (2017). </a:t>
            </a:r>
            <a:r>
              <a:rPr lang="en-US" sz="1400" dirty="0">
                <a:latin typeface="+mn-lt"/>
              </a:rPr>
              <a:t>Determinants of </a:t>
            </a:r>
            <a:r>
              <a:rPr lang="en-US" sz="1400" dirty="0" err="1">
                <a:latin typeface="+mn-lt"/>
              </a:rPr>
              <a:t>TRevPAR</a:t>
            </a:r>
            <a:r>
              <a:rPr lang="en-US" sz="1400" dirty="0">
                <a:latin typeface="+mn-lt"/>
              </a:rPr>
              <a:t>: Hotel, management and tourist destination. </a:t>
            </a:r>
            <a:r>
              <a:rPr lang="en-US" sz="1400" i="1" dirty="0">
                <a:latin typeface="+mn-lt"/>
              </a:rPr>
              <a:t>International Journal of Contemporary Hospitality Management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29</a:t>
            </a:r>
            <a:r>
              <a:rPr lang="en-US" sz="1400" dirty="0">
                <a:latin typeface="+mn-lt"/>
              </a:rPr>
              <a:t>(12), 3138–3156.</a:t>
            </a:r>
            <a:r>
              <a:rPr lang="en-US" sz="1400" dirty="0">
                <a:solidFill>
                  <a:srgbClr val="BFD72F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https://doi.org/10.1108/ijchm-03-2016-0151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Maria, E., Budiman, E., </a:t>
            </a:r>
            <a:r>
              <a:rPr lang="en-US" sz="1400" dirty="0" err="1">
                <a:latin typeface="+mn-lt"/>
              </a:rPr>
              <a:t>Haviluddin</a:t>
            </a:r>
            <a:r>
              <a:rPr lang="en-US" sz="1400" dirty="0">
                <a:latin typeface="+mn-lt"/>
              </a:rPr>
              <a:t>, &amp; </a:t>
            </a:r>
            <a:r>
              <a:rPr lang="en-US" sz="1400" dirty="0" err="1">
                <a:latin typeface="+mn-lt"/>
              </a:rPr>
              <a:t>Taruk</a:t>
            </a:r>
            <a:r>
              <a:rPr lang="en-US" sz="1400" dirty="0">
                <a:latin typeface="+mn-lt"/>
              </a:rPr>
              <a:t>, M. (2020). Measure distance locating nearest public facilities using Haversine and Euclidean Methods. </a:t>
            </a:r>
            <a:r>
              <a:rPr lang="en-US" sz="1400" i="1" dirty="0">
                <a:latin typeface="+mn-lt"/>
              </a:rPr>
              <a:t>Journal of Physics: Conference Series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1450</a:t>
            </a:r>
            <a:r>
              <a:rPr lang="en-US" sz="1400" dirty="0">
                <a:latin typeface="+mn-lt"/>
              </a:rPr>
              <a:t>(1), 012080</a:t>
            </a:r>
            <a:r>
              <a:rPr lang="en-US" sz="1400" dirty="0">
                <a:solidFill>
                  <a:srgbClr val="5C666C"/>
                </a:solidFill>
                <a:latin typeface="+mn-lt"/>
              </a:rPr>
              <a:t>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https://doi.org/10.1088/1742-6596/1450/1/012080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Moreno, I., Parrado-Martínez, P., &amp; Trujillo-Ponce, A. (2022). Using the </a:t>
            </a:r>
            <a:r>
              <a:rPr lang="en-US" sz="1400" i="1" dirty="0">
                <a:latin typeface="+mn-lt"/>
              </a:rPr>
              <a:t>Z</a:t>
            </a:r>
            <a:r>
              <a:rPr lang="en-US" sz="1400" dirty="0">
                <a:latin typeface="+mn-lt"/>
              </a:rPr>
              <a:t>-score to analyze the financial soundness of insurance firms. </a:t>
            </a:r>
            <a:r>
              <a:rPr lang="en-US" sz="1400" i="1" dirty="0">
                <a:latin typeface="+mn-lt"/>
              </a:rPr>
              <a:t>European Journal of Management and Business Economics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31</a:t>
            </a:r>
            <a:r>
              <a:rPr lang="en-US" sz="1400" dirty="0">
                <a:latin typeface="+mn-lt"/>
              </a:rPr>
              <a:t>(1), 22–39.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https://doi.org/10.1108/ejmbe-09-2020-0261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>
                <a:latin typeface="+mn-lt"/>
              </a:rPr>
              <a:t>Orbis. (2019). Orbis User Guide</a:t>
            </a:r>
            <a:r>
              <a:rPr lang="en-US" sz="1400" dirty="0">
                <a:solidFill>
                  <a:srgbClr val="BFD72F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5C666C"/>
                </a:solidFill>
                <a:latin typeface="+mn-lt"/>
              </a:rPr>
              <a:t> 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8" tooltip="https://biblioteca.ucm.es/data/cont/docs/393-2020-03-30-OrbisUserGuide2019.pd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https://biblioteca.ucm.es/data/cont/docs/393-2020-03-30-OrbisUserGuide2019.pdf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r>
              <a:rPr lang="en-US" sz="1400" dirty="0" err="1">
                <a:latin typeface="+mn-lt"/>
              </a:rPr>
              <a:t>Sainaghi</a:t>
            </a:r>
            <a:r>
              <a:rPr lang="en-US" sz="1400" dirty="0">
                <a:latin typeface="+mn-lt"/>
              </a:rPr>
              <a:t>, R. (2011). RevPAR determinants of individual hotels: Evidences from Milan. </a:t>
            </a:r>
            <a:r>
              <a:rPr lang="en-US" sz="1400" i="1" dirty="0">
                <a:latin typeface="+mn-lt"/>
              </a:rPr>
              <a:t>International Journal of Contemporary Hospitality Management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23</a:t>
            </a:r>
            <a:r>
              <a:rPr lang="en-US" sz="1400" dirty="0">
                <a:latin typeface="+mn-lt"/>
              </a:rPr>
              <a:t>(3), 297–311.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https://doi.org/10.1108/09596111111122497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4027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38ACA-F06F-FBC1-26AA-3010E468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F57DFFC-7817-2FCC-920F-D414A7CE8A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err="1"/>
              <a:t>References</a:t>
            </a: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0AFD0-1088-EC12-284C-A474A7BF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20</a:t>
            </a:fld>
            <a:endParaRPr lang="pt-PT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3B954F4-2E16-6520-AE45-63D5E76CA0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NOVA IMS | </a:t>
            </a:r>
            <a:r>
              <a:rPr lang="en-US" dirty="0"/>
              <a:t>Credit Risk Drivers in Hotel Sector</a:t>
            </a:r>
            <a:endParaRPr lang="pt-PT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34008BA7-8650-3F91-8003-DE5CD2DC4B72}"/>
              </a:ext>
            </a:extLst>
          </p:cNvPr>
          <p:cNvSpPr txBox="1">
            <a:spLocks/>
          </p:cNvSpPr>
          <p:nvPr/>
        </p:nvSpPr>
        <p:spPr>
          <a:xfrm>
            <a:off x="628650" y="1640114"/>
            <a:ext cx="10658048" cy="3788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ircular Std Book" charset="0"/>
                <a:ea typeface="Circular Std Book" charset="0"/>
                <a:cs typeface="Circular Std Boo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dirty="0">
                <a:latin typeface="+mn-lt"/>
              </a:rPr>
              <a:t>Sholeh, M., </a:t>
            </a:r>
            <a:r>
              <a:rPr lang="en-US" sz="1400" dirty="0" err="1">
                <a:latin typeface="+mn-lt"/>
              </a:rPr>
              <a:t>Widyastuti</a:t>
            </a:r>
            <a:r>
              <a:rPr lang="en-US" sz="1400" dirty="0">
                <a:latin typeface="+mn-lt"/>
              </a:rPr>
              <a:t>, N., &amp; Pratama, M. (2017). Google Map for Implementation of Geographic Information System Development Search Location SMEs. </a:t>
            </a:r>
            <a:r>
              <a:rPr lang="en-US" sz="1400" i="1" dirty="0">
                <a:latin typeface="+mn-lt"/>
              </a:rPr>
              <a:t>International Journal of Engineering Research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6</a:t>
            </a:r>
            <a:r>
              <a:rPr lang="en-US" sz="1400" dirty="0">
                <a:latin typeface="+mn-lt"/>
              </a:rPr>
              <a:t>(02).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https://www.ijert.org/research/google-map-for-implementation-of-geographic-information-system-development-search-location-smes-IJERTV6IS020283.pdf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+mn-lt"/>
              </a:rPr>
              <a:t>Sullivan, T. G. (1978). The Cost of Capital and the Market Power of Firms. </a:t>
            </a:r>
            <a:r>
              <a:rPr lang="en-US" sz="1400" i="1" dirty="0">
                <a:latin typeface="+mn-lt"/>
              </a:rPr>
              <a:t>The Review of Economics and Statistics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60</a:t>
            </a:r>
            <a:r>
              <a:rPr lang="en-US" sz="1400" dirty="0">
                <a:latin typeface="+mn-lt"/>
              </a:rPr>
              <a:t>(2), 209.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https://doi.org/10.2307/1924974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+mn-lt"/>
              </a:rPr>
              <a:t>Vivel-</a:t>
            </a:r>
            <a:r>
              <a:rPr lang="en-US" sz="1400" dirty="0" err="1">
                <a:latin typeface="+mn-lt"/>
              </a:rPr>
              <a:t>Búa</a:t>
            </a:r>
            <a:r>
              <a:rPr lang="en-US" sz="1400" dirty="0">
                <a:latin typeface="+mn-lt"/>
              </a:rPr>
              <a:t>, M., Lado-</a:t>
            </a:r>
            <a:r>
              <a:rPr lang="en-US" sz="1400" dirty="0" err="1">
                <a:latin typeface="+mn-lt"/>
              </a:rPr>
              <a:t>Sestayo</a:t>
            </a:r>
            <a:r>
              <a:rPr lang="en-US" sz="1400" dirty="0">
                <a:latin typeface="+mn-lt"/>
              </a:rPr>
              <a:t>, R., &amp; Otero-González, L. (2018). Risk determinants in the hotel sector: Risk credit in MSMEs. </a:t>
            </a:r>
            <a:r>
              <a:rPr lang="en-US" sz="1400" i="1" dirty="0">
                <a:latin typeface="+mn-lt"/>
              </a:rPr>
              <a:t>International Journal of Hospitality Management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70</a:t>
            </a:r>
            <a:r>
              <a:rPr lang="en-US" sz="1400" dirty="0">
                <a:latin typeface="+mn-lt"/>
              </a:rPr>
              <a:t>, 110–119.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https://doi.org/10.1016/j.ijhm.2017.11.004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+mn-lt"/>
              </a:rPr>
              <a:t>World Tourism Organization (Ed.). (2024). </a:t>
            </a:r>
            <a:r>
              <a:rPr lang="en-US" sz="1400" i="1" dirty="0">
                <a:latin typeface="+mn-lt"/>
              </a:rPr>
              <a:t>International Tourism Highlights, 2024 Edition</a:t>
            </a:r>
            <a:r>
              <a:rPr lang="en-US" sz="1400" dirty="0">
                <a:latin typeface="+mn-lt"/>
              </a:rPr>
              <a:t>. UN Tourism.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https://doi.org/10.18111/9789284425808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+mn-lt"/>
              </a:rPr>
              <a:t>Yang, Y., Luo, H., &amp; Law, R. (2014). Theoretical, empirical, and operational models in hotel location research. </a:t>
            </a:r>
            <a:r>
              <a:rPr lang="en-US" sz="1400" i="1" dirty="0">
                <a:latin typeface="+mn-lt"/>
              </a:rPr>
              <a:t>International Journal of Hospitality Management</a:t>
            </a:r>
            <a:r>
              <a:rPr lang="en-US" sz="1400" dirty="0">
                <a:latin typeface="+mn-lt"/>
              </a:rPr>
              <a:t>, </a:t>
            </a:r>
            <a:r>
              <a:rPr lang="en-US" sz="1400" i="1" dirty="0">
                <a:latin typeface="+mn-lt"/>
              </a:rPr>
              <a:t>36</a:t>
            </a:r>
            <a:r>
              <a:rPr lang="en-US" sz="1400" dirty="0">
                <a:latin typeface="+mn-lt"/>
              </a:rPr>
              <a:t>, 209–220. </a:t>
            </a:r>
            <a:r>
              <a:rPr lang="en-US" sz="1400" dirty="0">
                <a:solidFill>
                  <a:srgbClr val="5C666C"/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https://doi.org/10.1016/j.ijhm.2013.09.004</a:t>
            </a:r>
            <a:endParaRPr lang="en-US" sz="1400" dirty="0">
              <a:solidFill>
                <a:srgbClr val="5C666C"/>
              </a:solidFill>
              <a:latin typeface="+mn-lt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63678917"/>
      </p:ext>
    </p:extLst>
  </p:cSld>
  <p:clrMapOvr>
    <a:masterClrMapping/>
  </p:clrMapOvr>
</p:sld>
</file>

<file path=ppt/theme/theme1.xml><?xml version="1.0" encoding="utf-8"?>
<a:theme xmlns:a="http://schemas.openxmlformats.org/drawingml/2006/main" name="NOVA IMS">
  <a:themeElements>
    <a:clrScheme name="NOVA IM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EE071"/>
      </a:accent1>
      <a:accent2>
        <a:srgbClr val="3777FF"/>
      </a:accent2>
      <a:accent3>
        <a:srgbClr val="FF009C"/>
      </a:accent3>
      <a:accent4>
        <a:srgbClr val="F6DA00"/>
      </a:accent4>
      <a:accent5>
        <a:srgbClr val="FF4011"/>
      </a:accent5>
      <a:accent6>
        <a:srgbClr val="000000"/>
      </a:accent6>
      <a:hlink>
        <a:srgbClr val="3777FF"/>
      </a:hlink>
      <a:folHlink>
        <a:srgbClr val="0EE071"/>
      </a:folHlink>
    </a:clrScheme>
    <a:fontScheme name="NOVA IMS">
      <a:majorFont>
        <a:latin typeface="Bor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6548dc1-2df9-4748-ad5b-37809b53861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EDFB4915557A4385CE11FC4B4B1066" ma:contentTypeVersion="18" ma:contentTypeDescription="Create a new document." ma:contentTypeScope="" ma:versionID="05a9ba7af8005d61714fdfb56b6450ac">
  <xsd:schema xmlns:xsd="http://www.w3.org/2001/XMLSchema" xmlns:xs="http://www.w3.org/2001/XMLSchema" xmlns:p="http://schemas.microsoft.com/office/2006/metadata/properties" xmlns:ns3="26548dc1-2df9-4748-ad5b-37809b538616" xmlns:ns4="48e83e9a-1c8f-4237-b3a9-e2e3738ab0eb" targetNamespace="http://schemas.microsoft.com/office/2006/metadata/properties" ma:root="true" ma:fieldsID="9c5b3442e384e8b7e7bac421cccaeb69" ns3:_="" ns4:_="">
    <xsd:import namespace="26548dc1-2df9-4748-ad5b-37809b538616"/>
    <xsd:import namespace="48e83e9a-1c8f-4237-b3a9-e2e3738ab0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48dc1-2df9-4748-ad5b-37809b5386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e83e9a-1c8f-4237-b3a9-e2e3738ab0e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5946E4-6FA6-470F-9424-C2D5664A15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73B4AF-DACD-4C8C-BD17-C34067DB0347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  <ds:schemaRef ds:uri="26548dc1-2df9-4748-ad5b-37809b538616"/>
    <ds:schemaRef ds:uri="http://schemas.microsoft.com/office/2006/documentManagement/types"/>
    <ds:schemaRef ds:uri="http://purl.org/dc/elements/1.1/"/>
    <ds:schemaRef ds:uri="48e83e9a-1c8f-4237-b3a9-e2e3738ab0eb"/>
  </ds:schemaRefs>
</ds:datastoreItem>
</file>

<file path=customXml/itemProps3.xml><?xml version="1.0" encoding="utf-8"?>
<ds:datastoreItem xmlns:ds="http://schemas.openxmlformats.org/officeDocument/2006/customXml" ds:itemID="{FB3333F3-4E83-4C12-B011-DD5BCD4C8E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548dc1-2df9-4748-ad5b-37809b538616"/>
    <ds:schemaRef ds:uri="48e83e9a-1c8f-4237-b3a9-e2e3738ab0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6801</TotalTime>
  <Words>5053</Words>
  <Application>Microsoft Office PowerPoint</Application>
  <PresentationFormat>Widescreen</PresentationFormat>
  <Paragraphs>966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Circular Std Book</vt:lpstr>
      <vt:lpstr>Aptos</vt:lpstr>
      <vt:lpstr>Roboto</vt:lpstr>
      <vt:lpstr>Borna</vt:lpstr>
      <vt:lpstr>Montserrat</vt:lpstr>
      <vt:lpstr>Times New Roman</vt:lpstr>
      <vt:lpstr>Arial</vt:lpstr>
      <vt:lpstr>Calibri</vt:lpstr>
      <vt:lpstr>NOVA IMS</vt:lpstr>
      <vt:lpstr>PowerPoint Presentation</vt:lpstr>
      <vt:lpstr>PowerPoint Presentation</vt:lpstr>
      <vt:lpstr>Introduction</vt:lpstr>
      <vt:lpstr>PowerPoint Presentation</vt:lpstr>
      <vt:lpstr>Literature Review</vt:lpstr>
      <vt:lpstr>PowerPoint Presentation</vt:lpstr>
      <vt:lpstr>Data and Methodology</vt:lpstr>
      <vt:lpstr>PowerPoint Presentation</vt:lpstr>
      <vt:lpstr>PowerPoint Presentation</vt:lpstr>
      <vt:lpstr>Results and Discussion</vt:lpstr>
      <vt:lpstr>PowerPoint Presentation</vt:lpstr>
      <vt:lpstr>PowerPoint Presentation</vt:lpstr>
      <vt:lpstr>Conclusion and Future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Inês Pais</dc:creator>
  <cp:lastModifiedBy>Luis Francisco Matias Silvano</cp:lastModifiedBy>
  <cp:revision>69</cp:revision>
  <dcterms:created xsi:type="dcterms:W3CDTF">2025-07-10T10:57:11Z</dcterms:created>
  <dcterms:modified xsi:type="dcterms:W3CDTF">2025-10-23T07:00:02Z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0x01010005EDFB4915557A4385CE11FC4B4B1066</vt:lpwstr>
  </property>
  <property fmtid="{D5CDD505-2E9C-101B-9397-08002B2CF9AE}" pid="3" name="MediaServiceImageTags">
    <vt:lpwstr/>
  </property>
</Properties>
</file>